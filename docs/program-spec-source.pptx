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6"/>
  </p:notesMasterIdLst>
  <p:sldIdLst>
    <p:sldId id="262" r:id="rId5"/>
    <p:sldId id="267" r:id="rId6"/>
    <p:sldId id="268" r:id="rId7"/>
    <p:sldId id="269" r:id="rId8"/>
    <p:sldId id="270" r:id="rId9"/>
    <p:sldId id="271" r:id="rId10"/>
    <p:sldId id="273" r:id="rId11"/>
    <p:sldId id="275" r:id="rId12"/>
    <p:sldId id="276" r:id="rId13"/>
    <p:sldId id="277" r:id="rId14"/>
    <p:sldId id="27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yR7Qy92tYMCQlPyzWETnx8v24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F6"/>
    <a:srgbClr val="D4E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969325-27A6-4929-8F4C-6E62E43A9AF5}">
  <a:tblStyle styleId="{E6969325-27A6-4929-8F4C-6E62E43A9AF5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51" autoAdjust="0"/>
    <p:restoredTop sz="95367" autoAdjust="0"/>
  </p:normalViewPr>
  <p:slideViewPr>
    <p:cSldViewPr snapToGrid="0">
      <p:cViewPr>
        <p:scale>
          <a:sx n="75" d="100"/>
          <a:sy n="75" d="100"/>
        </p:scale>
        <p:origin x="701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customschemas.google.com/relationships/presentationmetadata" Target="meta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b7520f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d5b7520f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9808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b7520f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d5b7520f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3192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b7520f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g3d5b7520f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5124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b7520f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d5b7520f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3797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b7520f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g3d5b7520f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6006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b7520f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d5b7520f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4544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b7520f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d5b7520f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5959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b7520f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d5b7520f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5312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3636911686"/>
              </p:ext>
            </p:extLst>
          </p:nvPr>
        </p:nvGraphicFramePr>
        <p:xfrm>
          <a:off x="134006" y="102476"/>
          <a:ext cx="11879325" cy="6675170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853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</a:t>
                      </a: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자재마스터 관리 프로그램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38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조회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SAPMZC1MM0001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ABAP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ZC1MM0001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32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061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+mj-ea"/>
                          <a:ea typeface="+mj-ea"/>
                          <a:cs typeface="Malgun Gothic"/>
                          <a:sym typeface="Malgun Gothic"/>
                        </a:rPr>
                        <a:t>Description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자재마스터 정보를 통합 관리하는 프로그램으로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자재 </a:t>
                      </a:r>
                      <a:r>
                        <a:rPr lang="ko-KR" altLang="en-US" sz="1200" b="1" dirty="0"/>
                        <a:t>조회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수정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신규 등록</a:t>
                      </a:r>
                      <a:r>
                        <a:rPr lang="ko-KR" altLang="en-US" sz="1200" dirty="0"/>
                        <a:t>부터 자재별 </a:t>
                      </a:r>
                      <a:r>
                        <a:rPr lang="ko-KR" altLang="en-US" sz="1200" b="1" dirty="0"/>
                        <a:t>재고현황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이미지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메모 관리</a:t>
                      </a:r>
                      <a:r>
                        <a:rPr lang="ko-KR" altLang="en-US" sz="1200" dirty="0"/>
                        <a:t>까지 단일 화면에서 처리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120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조회조건</a:t>
                      </a:r>
                      <a:r>
                        <a:rPr lang="en-US" altLang="ko-KR" sz="1200" b="0" dirty="0"/>
                        <a:t> + </a:t>
                      </a:r>
                      <a:r>
                        <a:rPr lang="ko-KR" altLang="en-US" sz="1200" b="0" dirty="0" err="1"/>
                        <a:t>자재명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/>
                        <a:t>LIKE </a:t>
                      </a:r>
                      <a:r>
                        <a:rPr lang="ko-KR" altLang="en-US" sz="1200" b="0" dirty="0"/>
                        <a:t>검색</a:t>
                      </a:r>
                      <a:r>
                        <a:rPr lang="en-US" altLang="ko-KR" sz="1200" b="0" dirty="0"/>
                        <a:t> + </a:t>
                      </a:r>
                      <a:r>
                        <a:rPr lang="ko-KR" altLang="en-US" sz="1200" b="0" dirty="0"/>
                        <a:t>라디오버튼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전체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사용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미사용</a:t>
                      </a:r>
                      <a:r>
                        <a:rPr lang="en-US" altLang="ko-KR" sz="1200" b="0" dirty="0"/>
                        <a:t>) </a:t>
                      </a:r>
                      <a:br>
                        <a:rPr lang="en-US" altLang="ko-KR" sz="1200" b="0" dirty="0"/>
                      </a:br>
                      <a:r>
                        <a:rPr lang="ko-KR" altLang="en-US" sz="1200" b="0" dirty="0"/>
                        <a:t>중첩 조회 가능</a:t>
                      </a:r>
                      <a:endParaRPr lang="en-US" altLang="ko-KR" sz="1200" b="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조회 결과는 </a:t>
                      </a:r>
                      <a:r>
                        <a:rPr lang="ko-KR" altLang="en-US" sz="1200" b="0" dirty="0" err="1"/>
                        <a:t>사용→미사용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자재유형→자재그룹→자재번호</a:t>
                      </a:r>
                      <a:r>
                        <a:rPr lang="ko-KR" altLang="en-US" sz="1200" b="0" dirty="0"/>
                        <a:t> 순 자동 정렬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조회 건수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사용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미사용 구분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를 </a:t>
                      </a:r>
                      <a:r>
                        <a:rPr lang="ko-KR" altLang="en-US" sz="1200" b="0" dirty="0" err="1"/>
                        <a:t>상태바</a:t>
                      </a:r>
                      <a:r>
                        <a:rPr lang="ko-KR" altLang="en-US" sz="1200" b="0" dirty="0"/>
                        <a:t> 메시지로 안내</a:t>
                      </a:r>
                      <a:endParaRPr lang="en-US" altLang="ko-KR" sz="1200" b="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자재번호 </a:t>
                      </a:r>
                      <a:r>
                        <a:rPr lang="en-US" altLang="ko-KR" sz="1200" b="0" dirty="0"/>
                        <a:t>hotspot </a:t>
                      </a:r>
                      <a:r>
                        <a:rPr lang="ko-KR" altLang="en-US" sz="1200" b="0" dirty="0"/>
                        <a:t>클릭 시 우측에 </a:t>
                      </a:r>
                      <a:br>
                        <a:rPr lang="en-US" altLang="ko-KR" sz="1200" b="0" dirty="0"/>
                      </a:br>
                      <a:r>
                        <a:rPr lang="ko-KR" altLang="en-US" sz="1200" b="0" dirty="0"/>
                        <a:t>① </a:t>
                      </a:r>
                      <a:r>
                        <a:rPr lang="en-US" altLang="ko-KR" sz="1200" b="0" dirty="0"/>
                        <a:t>SMW0 </a:t>
                      </a:r>
                      <a:r>
                        <a:rPr lang="ko-KR" altLang="en-US" sz="1200" b="0" dirty="0"/>
                        <a:t>등록 이미지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자재번호 → 구자재번호</a:t>
                      </a:r>
                      <a:r>
                        <a:rPr lang="en-US" altLang="ko-KR" sz="1200" b="0" dirty="0"/>
                        <a:t>(BISMT) → </a:t>
                      </a:r>
                      <a:r>
                        <a:rPr lang="ko-KR" altLang="en-US" sz="1200" b="0" dirty="0" err="1"/>
                        <a:t>기본이미지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/>
                        <a:t>3</a:t>
                      </a:r>
                      <a:r>
                        <a:rPr lang="ko-KR" altLang="en-US" sz="1200" b="0" dirty="0"/>
                        <a:t>단계 </a:t>
                      </a:r>
                      <a:r>
                        <a:rPr lang="ko-KR" altLang="en-US" sz="1200" b="0" dirty="0" err="1"/>
                        <a:t>폴백</a:t>
                      </a:r>
                      <a:r>
                        <a:rPr lang="en-US" altLang="ko-KR" sz="1200" b="0" dirty="0"/>
                        <a:t>)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② </a:t>
                      </a:r>
                      <a:r>
                        <a:rPr lang="ko-KR" altLang="en-US" sz="1200" b="0" dirty="0"/>
                        <a:t>저장위치별 재고현황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가용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품질검사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보류재고</a:t>
                      </a:r>
                      <a:r>
                        <a:rPr lang="en-US" altLang="ko-KR" sz="1200" b="0" dirty="0"/>
                        <a:t>, ZTC1MM0020)   ③ </a:t>
                      </a:r>
                      <a:r>
                        <a:rPr lang="ko-KR" altLang="en-US" sz="1200" b="0" dirty="0"/>
                        <a:t>비고 메모를 동시 출력하고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선택 행은 노란색</a:t>
                      </a:r>
                      <a:r>
                        <a:rPr lang="en-US" altLang="ko-KR" sz="1200" b="0" dirty="0"/>
                        <a:t>(C300) </a:t>
                      </a:r>
                      <a:r>
                        <a:rPr lang="ko-KR" altLang="en-US" sz="1200" b="0" dirty="0" err="1"/>
                        <a:t>하이라이팅</a:t>
                      </a:r>
                      <a:r>
                        <a:rPr lang="ko-KR" altLang="en-US" sz="1200" b="0" dirty="0"/>
                        <a:t> </a:t>
                      </a:r>
                      <a:endParaRPr lang="en-US" altLang="ko-KR" sz="1200" b="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조회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수정 모드 </a:t>
                      </a:r>
                      <a:r>
                        <a:rPr lang="ko-KR" altLang="en-US" sz="1200" b="0" dirty="0" err="1"/>
                        <a:t>토글</a:t>
                      </a:r>
                      <a:r>
                        <a:rPr lang="ko-KR" altLang="en-US" sz="1200" b="0" dirty="0"/>
                        <a:t> 방식 운영 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 조회모드는 편집 차단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자재번호 </a:t>
                      </a:r>
                      <a:r>
                        <a:rPr lang="en-US" altLang="ko-KR" sz="1200" b="0" dirty="0"/>
                        <a:t>hotspot </a:t>
                      </a:r>
                      <a:r>
                        <a:rPr lang="ko-KR" altLang="en-US" sz="1200" b="0" dirty="0"/>
                        <a:t>활성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수정모드는 행 추가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셀 편집 허용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기존 행의 자재번호 키는 셀 단위 잠금으로 변경 차단</a:t>
                      </a:r>
                      <a:r>
                        <a:rPr lang="en-US" altLang="ko-KR" sz="1200" b="0" dirty="0"/>
                        <a:t>)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미사용</a:t>
                      </a:r>
                      <a:r>
                        <a:rPr lang="en-US" altLang="ko-KR" sz="1200" b="0" dirty="0"/>
                        <a:t>(LVORM) </a:t>
                      </a:r>
                      <a:r>
                        <a:rPr lang="ko-KR" altLang="en-US" sz="1200" b="0" dirty="0"/>
                        <a:t>플래그 </a:t>
                      </a:r>
                      <a:r>
                        <a:rPr lang="ko-KR" altLang="en-US" sz="1200" b="0" dirty="0" err="1"/>
                        <a:t>토글로</a:t>
                      </a:r>
                      <a:r>
                        <a:rPr lang="ko-KR" altLang="en-US" sz="1200" b="0" dirty="0"/>
                        <a:t> 물리적 삭제 없이 자재 비활성화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미사용 전환 시 진행중인 구매요청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 err="1"/>
                        <a:t>구매오더</a:t>
                      </a:r>
                      <a:r>
                        <a:rPr lang="ko-KR" altLang="en-US" sz="1200" b="0" dirty="0"/>
                        <a:t> 존재 여부를 검증해 진행 건이 있으면 저장 차단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플래그 자동 원복</a:t>
                      </a:r>
                      <a:r>
                        <a:rPr lang="en-US" altLang="ko-KR" sz="1200" b="0" dirty="0"/>
                        <a:t>. </a:t>
                      </a:r>
                      <a:br>
                        <a:rPr lang="en-US" altLang="ko-KR" sz="1200" b="0" dirty="0"/>
                      </a:br>
                      <a:r>
                        <a:rPr lang="ko-KR" altLang="en-US" sz="1200" b="0" dirty="0"/>
                        <a:t>미사용 자재는 행 전체 색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표시 및 </a:t>
                      </a:r>
                      <a:r>
                        <a:rPr lang="en-US" altLang="ko-KR" sz="1200" b="0" dirty="0"/>
                        <a:t>hotspot </a:t>
                      </a:r>
                      <a:r>
                        <a:rPr lang="ko-KR" altLang="en-US" sz="1200" b="0" dirty="0"/>
                        <a:t>클릭 차단 </a:t>
                      </a:r>
                      <a:endParaRPr lang="en-US" altLang="ko-KR" sz="1200" b="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저장 시 변경된 행만 선별 반영 후 건수 안내</a:t>
                      </a:r>
                      <a:endParaRPr lang="en-US" altLang="ko-KR" sz="1200" b="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메모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비고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영역은 전용 저장버튼으로 </a:t>
                      </a:r>
                      <a:r>
                        <a:rPr lang="en-US" altLang="ko-KR" sz="1200" b="0" dirty="0"/>
                        <a:t>ALV </a:t>
                      </a:r>
                      <a:r>
                        <a:rPr lang="ko-KR" altLang="en-US" sz="1200" b="0" dirty="0"/>
                        <a:t>저장과 분리 운영</a:t>
                      </a:r>
                      <a:r>
                        <a:rPr lang="en-US" altLang="ko-KR" sz="1200" b="0" dirty="0"/>
                        <a:t>, </a:t>
                      </a:r>
                      <a:br>
                        <a:rPr lang="en-US" altLang="ko-KR" sz="1200" b="0" dirty="0"/>
                      </a:br>
                      <a:r>
                        <a:rPr lang="ko-KR" altLang="en-US" sz="1200" b="0" dirty="0"/>
                        <a:t>저장 시 </a:t>
                      </a:r>
                      <a:r>
                        <a:rPr lang="en-US" altLang="ko-KR" sz="1200" b="0" dirty="0"/>
                        <a:t>DB </a:t>
                      </a:r>
                      <a:r>
                        <a:rPr lang="ko-KR" altLang="en-US" sz="1200" b="0" dirty="0"/>
                        <a:t>반영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내부테이블 동기화</a:t>
                      </a:r>
                      <a:endParaRPr lang="en-US" altLang="ko-KR" sz="1200" b="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r>
                        <a:rPr lang="en-US" altLang="ko-KR" sz="1400" b="1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Table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자재마스터 테이블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( ZTC1MM0001 )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Batch</a:t>
                      </a: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별 재고 테이블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( ZTC1MM0020 )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구매요청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아이템 테이블 </a:t>
                      </a:r>
                      <a:r>
                        <a:rPr lang="en-US" altLang="ko-KR" sz="1200" dirty="0"/>
                        <a:t>( ZTC1MM0026 )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아이템 테이블 </a:t>
                      </a:r>
                      <a:r>
                        <a:rPr lang="en-US" altLang="ko-KR" sz="1200" dirty="0"/>
                        <a:t>( ZTC1MM0008 )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8" name="Picture 107" descr="178296619652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358370"/>
            <a:ext cx="6748272" cy="3433886"/>
          </a:xfrm>
          <a:prstGeom prst="rect">
            <a:avLst/>
          </a:prstGeom>
        </p:spPr>
      </p:pic>
      <p:pic>
        <p:nvPicPr>
          <p:cNvPr id="109" name="Picture 108" descr="1782978878658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42" y="5006600"/>
            <a:ext cx="5394960" cy="164998"/>
          </a:xfrm>
          <a:prstGeom prst="rect">
            <a:avLst/>
          </a:prstGeom>
        </p:spPr>
      </p:pic>
      <p:pic>
        <p:nvPicPr>
          <p:cNvPr id="110" name="Picture 109" descr="1782978864412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719" y="5558361"/>
            <a:ext cx="3108960" cy="277585"/>
          </a:xfrm>
          <a:prstGeom prst="rect">
            <a:avLst/>
          </a:prstGeom>
        </p:spPr>
      </p:pic>
      <p:pic>
        <p:nvPicPr>
          <p:cNvPr id="111" name="Picture 110" descr="1782978923284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2484" y="5389077"/>
            <a:ext cx="2103120" cy="652814"/>
          </a:xfrm>
          <a:prstGeom prst="rect">
            <a:avLst/>
          </a:prstGeom>
        </p:spPr>
      </p:pic>
      <p:pic>
        <p:nvPicPr>
          <p:cNvPr id="112" name="Picture 111" descr="1782978911191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9644" y="6264695"/>
            <a:ext cx="1828800" cy="290146"/>
          </a:xfrm>
          <a:prstGeom prst="rect">
            <a:avLst/>
          </a:prstGeom>
        </p:spPr>
      </p:pic>
      <p:sp>
        <p:nvSpPr>
          <p:cNvPr id="121" name="Rectangle 120"/>
          <p:cNvSpPr/>
          <p:nvPr/>
        </p:nvSpPr>
        <p:spPr>
          <a:xfrm>
            <a:off x="5299854" y="4979168"/>
            <a:ext cx="5431536" cy="219862"/>
          </a:xfrm>
          <a:prstGeom prst="rect">
            <a:avLst/>
          </a:prstGeom>
          <a:noFill/>
          <a:ln w="12700">
            <a:solidFill>
              <a:srgbClr val="E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71E20C-E6C3-0B6F-C2DB-242E9CCF5A34}"/>
              </a:ext>
            </a:extLst>
          </p:cNvPr>
          <p:cNvSpPr/>
          <p:nvPr/>
        </p:nvSpPr>
        <p:spPr>
          <a:xfrm>
            <a:off x="5299854" y="2101501"/>
            <a:ext cx="6626064" cy="4413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24B0A870-716B-6C1D-334F-7C4997A22BAC}"/>
              </a:ext>
            </a:extLst>
          </p:cNvPr>
          <p:cNvSpPr/>
          <p:nvPr/>
        </p:nvSpPr>
        <p:spPr>
          <a:xfrm>
            <a:off x="5194136" y="1939028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42A7A4-9FE0-B6A6-6B53-9A5B9EBB67CE}"/>
              </a:ext>
            </a:extLst>
          </p:cNvPr>
          <p:cNvSpPr/>
          <p:nvPr/>
        </p:nvSpPr>
        <p:spPr>
          <a:xfrm>
            <a:off x="5400128" y="2761244"/>
            <a:ext cx="298307" cy="18489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F3967ED-B33F-6D3D-B384-3BD40D72B5DC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5698435" y="3629758"/>
            <a:ext cx="3511826" cy="570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60225C-3B43-8363-05BF-66EA38EB7AF4}"/>
              </a:ext>
            </a:extLst>
          </p:cNvPr>
          <p:cNvSpPr/>
          <p:nvPr/>
        </p:nvSpPr>
        <p:spPr>
          <a:xfrm>
            <a:off x="9210261" y="2570268"/>
            <a:ext cx="2715657" cy="21189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Google Shape;65;p14">
            <a:extLst>
              <a:ext uri="{FF2B5EF4-FFF2-40B4-BE49-F238E27FC236}">
                <a16:creationId xmlns:a16="http://schemas.microsoft.com/office/drawing/2014/main" id="{29381BEB-902B-D316-71D0-2A863D7116AB}"/>
              </a:ext>
            </a:extLst>
          </p:cNvPr>
          <p:cNvSpPr/>
          <p:nvPr/>
        </p:nvSpPr>
        <p:spPr>
          <a:xfrm>
            <a:off x="5259719" y="2606854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62FD68-F574-8C40-F5DC-E64B8445D64A}"/>
              </a:ext>
            </a:extLst>
          </p:cNvPr>
          <p:cNvSpPr/>
          <p:nvPr/>
        </p:nvSpPr>
        <p:spPr>
          <a:xfrm>
            <a:off x="7130595" y="2570267"/>
            <a:ext cx="274058" cy="1080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65;p14">
            <a:extLst>
              <a:ext uri="{FF2B5EF4-FFF2-40B4-BE49-F238E27FC236}">
                <a16:creationId xmlns:a16="http://schemas.microsoft.com/office/drawing/2014/main" id="{DB9DE74F-BF9A-A534-7AE0-9AE23D8AE855}"/>
              </a:ext>
            </a:extLst>
          </p:cNvPr>
          <p:cNvSpPr/>
          <p:nvPr/>
        </p:nvSpPr>
        <p:spPr>
          <a:xfrm>
            <a:off x="7377085" y="2580374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0A0662-55DF-E6A8-19F9-8BD03B2C38EA}"/>
              </a:ext>
            </a:extLst>
          </p:cNvPr>
          <p:cNvSpPr/>
          <p:nvPr/>
        </p:nvSpPr>
        <p:spPr>
          <a:xfrm>
            <a:off x="8807816" y="2678318"/>
            <a:ext cx="218577" cy="193191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Google Shape;65;p14">
            <a:extLst>
              <a:ext uri="{FF2B5EF4-FFF2-40B4-BE49-F238E27FC236}">
                <a16:creationId xmlns:a16="http://schemas.microsoft.com/office/drawing/2014/main" id="{1EE5F9BD-73A6-0D65-9295-E683396A476D}"/>
              </a:ext>
            </a:extLst>
          </p:cNvPr>
          <p:cNvSpPr/>
          <p:nvPr/>
        </p:nvSpPr>
        <p:spPr>
          <a:xfrm>
            <a:off x="8667407" y="2580374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B698D92-8256-3265-30E7-9399E6634CED}"/>
              </a:ext>
            </a:extLst>
          </p:cNvPr>
          <p:cNvCxnSpPr>
            <a:cxnSpLocks/>
          </p:cNvCxnSpPr>
          <p:nvPr/>
        </p:nvCxnSpPr>
        <p:spPr>
          <a:xfrm flipH="1">
            <a:off x="8551628" y="4620340"/>
            <a:ext cx="361784" cy="368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29999BA-6B09-D7DF-BD87-A16007066FC3}"/>
              </a:ext>
            </a:extLst>
          </p:cNvPr>
          <p:cNvCxnSpPr>
            <a:cxnSpLocks/>
          </p:cNvCxnSpPr>
          <p:nvPr/>
        </p:nvCxnSpPr>
        <p:spPr>
          <a:xfrm>
            <a:off x="6300548" y="5199256"/>
            <a:ext cx="0" cy="3332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Google Shape;65;p14">
            <a:extLst>
              <a:ext uri="{FF2B5EF4-FFF2-40B4-BE49-F238E27FC236}">
                <a16:creationId xmlns:a16="http://schemas.microsoft.com/office/drawing/2014/main" id="{A850B515-1B8D-9C33-15C9-435B0A746E56}"/>
              </a:ext>
            </a:extLst>
          </p:cNvPr>
          <p:cNvSpPr/>
          <p:nvPr/>
        </p:nvSpPr>
        <p:spPr>
          <a:xfrm>
            <a:off x="9104543" y="5286069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6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0A3A310-343C-D81E-E560-E6190DCC5842}"/>
              </a:ext>
            </a:extLst>
          </p:cNvPr>
          <p:cNvCxnSpPr>
            <a:cxnSpLocks/>
          </p:cNvCxnSpPr>
          <p:nvPr/>
        </p:nvCxnSpPr>
        <p:spPr>
          <a:xfrm>
            <a:off x="10304044" y="6041891"/>
            <a:ext cx="0" cy="2450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5;p14">
            <a:extLst>
              <a:ext uri="{FF2B5EF4-FFF2-40B4-BE49-F238E27FC236}">
                <a16:creationId xmlns:a16="http://schemas.microsoft.com/office/drawing/2014/main" id="{1BD77C66-6926-DDBD-D8D5-F196D307399E}"/>
              </a:ext>
            </a:extLst>
          </p:cNvPr>
          <p:cNvSpPr/>
          <p:nvPr/>
        </p:nvSpPr>
        <p:spPr>
          <a:xfrm>
            <a:off x="9507110" y="4135559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7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B1528C3-CC3F-9665-5539-70264C7824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3202" y="6195277"/>
            <a:ext cx="2091451" cy="262425"/>
          </a:xfrm>
          <a:prstGeom prst="rect">
            <a:avLst/>
          </a:prstGeom>
        </p:spPr>
      </p:pic>
      <p:sp>
        <p:nvSpPr>
          <p:cNvPr id="36" name="Google Shape;65;p14">
            <a:extLst>
              <a:ext uri="{FF2B5EF4-FFF2-40B4-BE49-F238E27FC236}">
                <a16:creationId xmlns:a16="http://schemas.microsoft.com/office/drawing/2014/main" id="{E34C3405-119B-06D4-F077-59F9047440D9}"/>
              </a:ext>
            </a:extLst>
          </p:cNvPr>
          <p:cNvSpPr/>
          <p:nvPr/>
        </p:nvSpPr>
        <p:spPr>
          <a:xfrm>
            <a:off x="5230368" y="6048987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1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3216590276"/>
              </p:ext>
            </p:extLst>
          </p:nvPr>
        </p:nvGraphicFramePr>
        <p:xfrm>
          <a:off x="134006" y="102476"/>
          <a:ext cx="11879325" cy="6644690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8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</a:t>
                      </a: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구매요청 관리 프로그램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66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트랜잭션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ZRC1MM0004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ABAP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8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ZRC1MM0004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866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32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Malgun Gothic"/>
                          <a:sym typeface="Malgun Gothic"/>
                        </a:rPr>
                        <a:t>Description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구매요청</a:t>
                      </a:r>
                      <a:r>
                        <a:rPr lang="en-US" altLang="ko-KR" sz="1200" dirty="0"/>
                        <a:t>(PR)</a:t>
                      </a:r>
                      <a:r>
                        <a:rPr lang="ko-KR" altLang="en-US" sz="1200" dirty="0"/>
                        <a:t>의 </a:t>
                      </a:r>
                      <a:r>
                        <a:rPr lang="ko-KR" altLang="en-US" sz="1200" b="1" dirty="0"/>
                        <a:t>조회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확정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수정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생성</a:t>
                      </a:r>
                      <a:r>
                        <a:rPr lang="ko-KR" altLang="en-US" sz="1200" dirty="0"/>
                        <a:t>을 단일 화면에서 처리하는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통합 관리 프로그램으로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탭 스트립 기반의 </a:t>
                      </a:r>
                      <a:r>
                        <a:rPr lang="en-US" altLang="ko-KR" sz="1200" b="1" dirty="0"/>
                        <a:t>[</a:t>
                      </a:r>
                      <a:r>
                        <a:rPr lang="ko-KR" altLang="en-US" sz="1200" b="1" dirty="0"/>
                        <a:t>구매요청 조회</a:t>
                      </a:r>
                      <a:r>
                        <a:rPr lang="en-US" altLang="ko-KR" sz="1200" b="1" dirty="0"/>
                        <a:t>] / [</a:t>
                      </a:r>
                      <a:r>
                        <a:rPr lang="ko-KR" altLang="en-US" sz="1200" b="1" dirty="0"/>
                        <a:t>구매요청 생성</a:t>
                      </a:r>
                      <a:r>
                        <a:rPr lang="en-US" altLang="ko-KR" sz="1200" b="1" dirty="0"/>
                        <a:t>]</a:t>
                      </a:r>
                      <a:r>
                        <a:rPr lang="ko-KR" altLang="en-US" sz="1200" dirty="0"/>
                        <a:t> 으로 분리 구성</a:t>
                      </a:r>
                      <a:endParaRPr lang="en-US" altLang="ko-KR" sz="12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12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</a:t>
                      </a:r>
                      <a:r>
                        <a:rPr lang="ko-KR" altLang="en-US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구매요청 조회 탭</a:t>
                      </a: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]</a:t>
                      </a:r>
                      <a:endParaRPr lang="en-US" altLang="ko-KR" sz="1200" b="1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조회조건</a:t>
                      </a:r>
                      <a:r>
                        <a:rPr lang="en-US" altLang="ko-KR" sz="1200" b="0" dirty="0"/>
                        <a:t> + </a:t>
                      </a:r>
                      <a:r>
                        <a:rPr lang="ko-KR" altLang="en-US" sz="1200" b="0" dirty="0"/>
                        <a:t>구매요청번호 </a:t>
                      </a:r>
                      <a:r>
                        <a:rPr lang="en-US" altLang="ko-KR" sz="1200" b="0" dirty="0"/>
                        <a:t>Search Help(</a:t>
                      </a:r>
                      <a:r>
                        <a:rPr lang="ko-KR" altLang="en-US" sz="1200" b="0" dirty="0"/>
                        <a:t>요청일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 err="1"/>
                        <a:t>요청자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처리상태 표시</a:t>
                      </a:r>
                      <a:r>
                        <a:rPr lang="en-US" altLang="ko-KR" sz="1200" b="0" dirty="0"/>
                        <a:t>) + ALV </a:t>
                      </a:r>
                      <a:r>
                        <a:rPr lang="ko-KR" altLang="en-US" sz="1200" b="0" dirty="0" err="1"/>
                        <a:t>툴바</a:t>
                      </a:r>
                      <a:r>
                        <a:rPr lang="ko-KR" altLang="en-US" sz="1200" b="0" dirty="0"/>
                        <a:t> 구매요청 처리상태 필터 버튼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 (</a:t>
                      </a:r>
                      <a:r>
                        <a:rPr lang="ko-KR" altLang="en-US" sz="1200" b="0" dirty="0"/>
                        <a:t>전체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확정대기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일부확정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확정완료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으로 이중 검색 체계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좌측 </a:t>
                      </a:r>
                      <a:r>
                        <a:rPr lang="en-US" altLang="ko-KR" sz="1200" b="0" dirty="0"/>
                        <a:t>ALV</a:t>
                      </a:r>
                      <a:r>
                        <a:rPr lang="ko-KR" altLang="en-US" sz="1200" b="0" dirty="0"/>
                        <a:t>에 구매요청 헤더 목록을 표시 </a:t>
                      </a:r>
                      <a:r>
                        <a:rPr lang="en-US" altLang="ko-KR" sz="1200" b="0" dirty="0"/>
                        <a:t>: </a:t>
                      </a:r>
                      <a:br>
                        <a:rPr lang="en-US" altLang="ko-KR" sz="1200" b="0" dirty="0"/>
                      </a:br>
                      <a:r>
                        <a:rPr lang="ko-KR" altLang="en-US" sz="1200" b="0" dirty="0"/>
                        <a:t>처리상태 </a:t>
                      </a:r>
                      <a:r>
                        <a:rPr lang="en-US" altLang="ko-KR" sz="1200" b="0" dirty="0"/>
                        <a:t>LED </a:t>
                      </a:r>
                      <a:r>
                        <a:rPr lang="ko-KR" altLang="en-US" sz="1200" b="0" dirty="0"/>
                        <a:t>아이콘</a:t>
                      </a:r>
                      <a:r>
                        <a:rPr lang="en-US" altLang="ko-KR" sz="1200" b="0" dirty="0"/>
                        <a:t>(CR</a:t>
                      </a:r>
                      <a:r>
                        <a:rPr lang="ko-KR" altLang="en-US" sz="1200" b="0" dirty="0"/>
                        <a:t>빨강</a:t>
                      </a:r>
                      <a:r>
                        <a:rPr lang="en-US" altLang="ko-KR" sz="1200" b="0" dirty="0"/>
                        <a:t>/PC</a:t>
                      </a:r>
                      <a:r>
                        <a:rPr lang="ko-KR" altLang="en-US" sz="1200" b="0" dirty="0"/>
                        <a:t>노랑</a:t>
                      </a:r>
                      <a:r>
                        <a:rPr lang="en-US" altLang="ko-KR" sz="1200" b="0" dirty="0"/>
                        <a:t>/FC</a:t>
                      </a:r>
                      <a:r>
                        <a:rPr lang="ko-KR" altLang="en-US" sz="1200" b="0" dirty="0"/>
                        <a:t>초록</a:t>
                      </a:r>
                      <a:r>
                        <a:rPr lang="en-US" altLang="ko-KR" sz="1200" b="0" dirty="0"/>
                        <a:t>), </a:t>
                      </a:r>
                      <a:r>
                        <a:rPr lang="ko-KR" altLang="en-US" sz="1200" b="0" dirty="0"/>
                        <a:t>취소품목 보유 여부 아이콘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생성구분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수동</a:t>
                      </a:r>
                      <a:r>
                        <a:rPr lang="en-US" altLang="ko-KR" sz="1200" b="0" dirty="0"/>
                        <a:t>/MRP) </a:t>
                      </a:r>
                      <a:r>
                        <a:rPr lang="ko-KR" altLang="en-US" sz="1200" b="0" dirty="0"/>
                        <a:t>텍스트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취소 제외 품목 기준 품목 개수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최소 납기요청일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총 예상금액 자동 집계 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 err="1"/>
                        <a:t>납기잔여일수</a:t>
                      </a:r>
                      <a:r>
                        <a:rPr lang="en-US" altLang="ko-KR" sz="1200" b="0" dirty="0"/>
                        <a:t>(D-Day) </a:t>
                      </a:r>
                      <a:r>
                        <a:rPr lang="ko-KR" altLang="en-US" sz="1200" b="0" dirty="0"/>
                        <a:t>자동 계산 </a:t>
                      </a:r>
                      <a:r>
                        <a:rPr lang="en-US" altLang="ko-KR" sz="1200" b="0" dirty="0"/>
                        <a:t>: D-N/D-Day/D+N </a:t>
                      </a:r>
                      <a:r>
                        <a:rPr lang="ko-KR" altLang="en-US" sz="1200" b="0" dirty="0"/>
                        <a:t>표기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납기 초과 </a:t>
                      </a:r>
                      <a:r>
                        <a:rPr lang="ko-KR" altLang="en-US" sz="1200" b="0" dirty="0" err="1"/>
                        <a:t>미확정</a:t>
                      </a:r>
                      <a:r>
                        <a:rPr lang="ko-KR" altLang="en-US" sz="1200" b="0" dirty="0"/>
                        <a:t> 건은 셀 빨간색 강조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미확정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일부확정 건을 납기 임박순으로 상단 정렬해 시급성 시각화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구매요청 더블클릭 시 우측 </a:t>
                      </a:r>
                      <a:r>
                        <a:rPr lang="en-US" altLang="ko-KR" sz="1200" b="0" dirty="0"/>
                        <a:t>3</a:t>
                      </a:r>
                      <a:r>
                        <a:rPr lang="ko-KR" altLang="en-US" sz="1200" b="0" dirty="0"/>
                        <a:t>분할 영역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헤더 정보 </a:t>
                      </a:r>
                      <a:r>
                        <a:rPr lang="en-US" altLang="ko-KR" sz="1200" b="0" dirty="0"/>
                        <a:t>HTML / </a:t>
                      </a:r>
                      <a:r>
                        <a:rPr lang="ko-KR" altLang="en-US" sz="1200" b="0" dirty="0" err="1"/>
                        <a:t>미확정</a:t>
                      </a:r>
                      <a:r>
                        <a:rPr lang="ko-KR" altLang="en-US" sz="1200" b="0" dirty="0"/>
                        <a:t> 품목 </a:t>
                      </a:r>
                      <a:r>
                        <a:rPr lang="en-US" altLang="ko-KR" sz="1200" b="0" dirty="0"/>
                        <a:t>ALV / </a:t>
                      </a:r>
                      <a:r>
                        <a:rPr lang="ko-KR" altLang="en-US" sz="1200" b="0" dirty="0"/>
                        <a:t>확정 품목 </a:t>
                      </a:r>
                      <a:r>
                        <a:rPr lang="en-US" altLang="ko-KR" sz="1200" b="0" dirty="0"/>
                        <a:t>ALV) </a:t>
                      </a:r>
                      <a:r>
                        <a:rPr lang="ko-KR" altLang="en-US" sz="1200" b="0" dirty="0"/>
                        <a:t>동적 갱신 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ko-KR" altLang="en-US" sz="1200" b="0" dirty="0"/>
                        <a:t>헤더 </a:t>
                      </a:r>
                      <a:r>
                        <a:rPr lang="en-US" altLang="ko-KR" sz="1200" b="0" dirty="0"/>
                        <a:t>HTML</a:t>
                      </a:r>
                      <a:r>
                        <a:rPr lang="ko-KR" altLang="en-US" sz="1200" b="0" dirty="0"/>
                        <a:t>에 </a:t>
                      </a:r>
                      <a:r>
                        <a:rPr lang="ko-KR" altLang="en-US" sz="1200" b="0" dirty="0" err="1"/>
                        <a:t>요청자</a:t>
                      </a:r>
                      <a:r>
                        <a:rPr lang="ko-KR" altLang="en-US" sz="1200" b="0" dirty="0"/>
                        <a:t> 부서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이름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상태 배지 색상 표시 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구매요청 확정은 헤더 단위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일괄</a:t>
                      </a:r>
                      <a:r>
                        <a:rPr lang="en-US" altLang="ko-KR" sz="1200" b="0" dirty="0"/>
                        <a:t>) / </a:t>
                      </a:r>
                      <a:r>
                        <a:rPr lang="ko-KR" altLang="en-US" sz="1200" b="0" dirty="0"/>
                        <a:t>품목 단위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선택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 이중 방식 지원 구매요청 확정 시 확인 팝업 후 품목 상태를 </a:t>
                      </a:r>
                      <a:r>
                        <a:rPr lang="en-US" altLang="ko-KR" sz="1200" b="0" dirty="0"/>
                        <a:t>FC</a:t>
                      </a:r>
                      <a:r>
                        <a:rPr lang="ko-KR" altLang="en-US" sz="1200" b="0" dirty="0"/>
                        <a:t>로 변경하고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확정 시점의 </a:t>
                      </a:r>
                      <a:r>
                        <a:rPr lang="ko-KR" altLang="en-US" sz="1200" b="0" dirty="0" err="1"/>
                        <a:t>자재명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단가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통화를 품목에 고정 저장해 이후 단가 변동과 무관하게 확정 당시 금액 보존 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 err="1"/>
                        <a:t>미확정</a:t>
                      </a:r>
                      <a:r>
                        <a:rPr lang="ko-KR" altLang="en-US" sz="1200" b="0" dirty="0"/>
                        <a:t> 품목 수정 팝업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자재번호 </a:t>
                      </a:r>
                      <a:r>
                        <a:rPr lang="en-US" altLang="ko-KR" sz="1200" b="0" dirty="0"/>
                        <a:t>F4 </a:t>
                      </a:r>
                      <a:r>
                        <a:rPr lang="ko-KR" altLang="en-US" sz="1200" b="0" dirty="0"/>
                        <a:t>연계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 err="1"/>
                        <a:t>자재명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단가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통화 자동 </a:t>
                      </a:r>
                      <a:r>
                        <a:rPr lang="ko-KR" altLang="en-US" sz="1200" b="0" dirty="0" err="1"/>
                        <a:t>재조회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총 금액 자동 계산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지원</a:t>
                      </a:r>
                      <a:r>
                        <a:rPr lang="en-US" altLang="ko-KR" sz="1200" b="0" dirty="0"/>
                        <a:t>,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MRP </a:t>
                      </a:r>
                      <a:r>
                        <a:rPr lang="ko-KR" altLang="en-US" sz="1200" b="0" dirty="0"/>
                        <a:t>생성 건 수정 시 경고 메시지 안내 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취소처리</a:t>
                      </a:r>
                      <a:r>
                        <a:rPr lang="en-US" altLang="ko-KR" sz="1200" b="0" dirty="0"/>
                        <a:t>(LOEKZ) </a:t>
                      </a:r>
                      <a:r>
                        <a:rPr lang="ko-KR" altLang="en-US" sz="1200" b="0" dirty="0"/>
                        <a:t>체크박스 클릭 시 즉시 </a:t>
                      </a:r>
                      <a:r>
                        <a:rPr lang="en-US" altLang="ko-KR" sz="1200" b="0" dirty="0"/>
                        <a:t>DB </a:t>
                      </a:r>
                      <a:r>
                        <a:rPr lang="ko-KR" altLang="en-US" sz="1200" b="0" dirty="0"/>
                        <a:t>반영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헤더 상태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집계 재계산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품목 확정 비율에 따라 헤더 상태를 </a:t>
                      </a:r>
                      <a:r>
                        <a:rPr lang="en-US" altLang="ko-KR" sz="1200" b="0" dirty="0"/>
                        <a:t>CR/PC/FC</a:t>
                      </a:r>
                      <a:r>
                        <a:rPr lang="ko-KR" altLang="en-US" sz="1200" b="0" dirty="0"/>
                        <a:t>로 자동 재계산하고 좌측 목록 동기 갱신 </a:t>
                      </a:r>
                      <a:endParaRPr lang="en-US" altLang="ko-KR" sz="1200" b="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8" name="Picture 107" descr="1782966324422_image.png"/>
          <p:cNvPicPr>
            <a:picLocks noChangeAspect="1"/>
          </p:cNvPicPr>
          <p:nvPr/>
        </p:nvPicPr>
        <p:blipFill>
          <a:blip r:embed="rId3"/>
          <a:srcRect t="3996"/>
          <a:stretch/>
        </p:blipFill>
        <p:spPr>
          <a:xfrm>
            <a:off x="5196965" y="1147863"/>
            <a:ext cx="6748272" cy="3296688"/>
          </a:xfrm>
          <a:prstGeom prst="rect">
            <a:avLst/>
          </a:prstGeom>
        </p:spPr>
      </p:pic>
      <p:pic>
        <p:nvPicPr>
          <p:cNvPr id="109" name="Picture 108" descr="178296635466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742" y="5633966"/>
            <a:ext cx="1874519" cy="1024281"/>
          </a:xfrm>
          <a:prstGeom prst="rect">
            <a:avLst/>
          </a:prstGeom>
        </p:spPr>
      </p:pic>
      <p:pic>
        <p:nvPicPr>
          <p:cNvPr id="110" name="Picture 109" descr="1782966345533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085" y="4752086"/>
            <a:ext cx="1737360" cy="632895"/>
          </a:xfrm>
          <a:prstGeom prst="rect">
            <a:avLst/>
          </a:prstGeom>
        </p:spPr>
      </p:pic>
      <p:pic>
        <p:nvPicPr>
          <p:cNvPr id="111" name="Picture 110" descr="1782979007401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077" y="4750560"/>
            <a:ext cx="2331720" cy="1268842"/>
          </a:xfrm>
          <a:prstGeom prst="rect">
            <a:avLst/>
          </a:prstGeom>
        </p:spPr>
      </p:pic>
      <p:pic>
        <p:nvPicPr>
          <p:cNvPr id="112" name="Picture 111" descr="1782979027019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525" y="4750560"/>
            <a:ext cx="2267712" cy="1101742"/>
          </a:xfrm>
          <a:prstGeom prst="rect">
            <a:avLst/>
          </a:prstGeom>
        </p:spPr>
      </p:pic>
      <p:pic>
        <p:nvPicPr>
          <p:cNvPr id="113" name="Picture 112" descr="1782966374460_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525" y="6094728"/>
            <a:ext cx="2267712" cy="51174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448AD21-624E-0255-43A3-416D7616BD5E}"/>
              </a:ext>
            </a:extLst>
          </p:cNvPr>
          <p:cNvSpPr/>
          <p:nvPr/>
        </p:nvSpPr>
        <p:spPr>
          <a:xfrm>
            <a:off x="5295376" y="1926787"/>
            <a:ext cx="2431693" cy="47570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884BB597-B501-1F32-9985-BC73B7A60830}"/>
              </a:ext>
            </a:extLst>
          </p:cNvPr>
          <p:cNvSpPr/>
          <p:nvPr/>
        </p:nvSpPr>
        <p:spPr>
          <a:xfrm>
            <a:off x="5198371" y="1777323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13D6F6-B091-46E4-02A3-F52084553E74}"/>
              </a:ext>
            </a:extLst>
          </p:cNvPr>
          <p:cNvSpPr/>
          <p:nvPr/>
        </p:nvSpPr>
        <p:spPr>
          <a:xfrm>
            <a:off x="5295376" y="2437641"/>
            <a:ext cx="3212460" cy="18288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Google Shape;65;p14">
            <a:extLst>
              <a:ext uri="{FF2B5EF4-FFF2-40B4-BE49-F238E27FC236}">
                <a16:creationId xmlns:a16="http://schemas.microsoft.com/office/drawing/2014/main" id="{0AFE0ADD-EE86-2568-C076-7ED5B8A0B0E7}"/>
              </a:ext>
            </a:extLst>
          </p:cNvPr>
          <p:cNvSpPr/>
          <p:nvPr/>
        </p:nvSpPr>
        <p:spPr>
          <a:xfrm>
            <a:off x="5198371" y="2458647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A6900B-3B10-74AC-4A10-2F4959000FD6}"/>
              </a:ext>
            </a:extLst>
          </p:cNvPr>
          <p:cNvSpPr/>
          <p:nvPr/>
        </p:nvSpPr>
        <p:spPr>
          <a:xfrm>
            <a:off x="7057532" y="2542741"/>
            <a:ext cx="307754" cy="16770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8B90A2-9743-5661-DBF2-CEA55C91C038}"/>
              </a:ext>
            </a:extLst>
          </p:cNvPr>
          <p:cNvSpPr/>
          <p:nvPr/>
        </p:nvSpPr>
        <p:spPr>
          <a:xfrm>
            <a:off x="8641337" y="2307523"/>
            <a:ext cx="3212460" cy="195892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51603D-E86E-287A-C1DC-451A94D044B3}"/>
              </a:ext>
            </a:extLst>
          </p:cNvPr>
          <p:cNvSpPr/>
          <p:nvPr/>
        </p:nvSpPr>
        <p:spPr>
          <a:xfrm>
            <a:off x="8746690" y="2782612"/>
            <a:ext cx="446160" cy="1077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Google Shape;65;p14">
            <a:extLst>
              <a:ext uri="{FF2B5EF4-FFF2-40B4-BE49-F238E27FC236}">
                <a16:creationId xmlns:a16="http://schemas.microsoft.com/office/drawing/2014/main" id="{54023AA1-E330-7CA7-C70C-50E24286C007}"/>
              </a:ext>
            </a:extLst>
          </p:cNvPr>
          <p:cNvSpPr/>
          <p:nvPr/>
        </p:nvSpPr>
        <p:spPr>
          <a:xfrm>
            <a:off x="8533644" y="2161287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" name="Google Shape;65;p14">
            <a:extLst>
              <a:ext uri="{FF2B5EF4-FFF2-40B4-BE49-F238E27FC236}">
                <a16:creationId xmlns:a16="http://schemas.microsoft.com/office/drawing/2014/main" id="{729880C7-B81D-8221-C048-EEF8D2E6C1D1}"/>
              </a:ext>
            </a:extLst>
          </p:cNvPr>
          <p:cNvSpPr/>
          <p:nvPr/>
        </p:nvSpPr>
        <p:spPr>
          <a:xfrm>
            <a:off x="7337733" y="2444104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" name="Google Shape;65;p14">
            <a:extLst>
              <a:ext uri="{FF2B5EF4-FFF2-40B4-BE49-F238E27FC236}">
                <a16:creationId xmlns:a16="http://schemas.microsoft.com/office/drawing/2014/main" id="{FB6DFD16-0D39-0DA9-3659-9CF668384D76}"/>
              </a:ext>
            </a:extLst>
          </p:cNvPr>
          <p:cNvSpPr/>
          <p:nvPr/>
        </p:nvSpPr>
        <p:spPr>
          <a:xfrm>
            <a:off x="7132516" y="4648640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F8E5AD-E51A-A724-A831-A0E071C777B2}"/>
              </a:ext>
            </a:extLst>
          </p:cNvPr>
          <p:cNvSpPr/>
          <p:nvPr/>
        </p:nvSpPr>
        <p:spPr>
          <a:xfrm>
            <a:off x="7211802" y="2289226"/>
            <a:ext cx="463298" cy="1077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C0AE59B-8F9B-2CFF-7981-21040F7A74CF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8532179" y="2890327"/>
            <a:ext cx="437591" cy="18602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65;p14">
            <a:extLst>
              <a:ext uri="{FF2B5EF4-FFF2-40B4-BE49-F238E27FC236}">
                <a16:creationId xmlns:a16="http://schemas.microsoft.com/office/drawing/2014/main" id="{E548C76D-5580-786C-8FA8-A4F9DA7C639B}"/>
              </a:ext>
            </a:extLst>
          </p:cNvPr>
          <p:cNvSpPr/>
          <p:nvPr/>
        </p:nvSpPr>
        <p:spPr>
          <a:xfrm>
            <a:off x="9545498" y="5966712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8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412B2A6-CEE6-0FE4-F133-A4EF66F3EC99}"/>
              </a:ext>
            </a:extLst>
          </p:cNvPr>
          <p:cNvCxnSpPr>
            <a:cxnSpLocks/>
          </p:cNvCxnSpPr>
          <p:nvPr/>
        </p:nvCxnSpPr>
        <p:spPr>
          <a:xfrm>
            <a:off x="9567797" y="5408074"/>
            <a:ext cx="1097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oogle Shape;65;p14">
            <a:extLst>
              <a:ext uri="{FF2B5EF4-FFF2-40B4-BE49-F238E27FC236}">
                <a16:creationId xmlns:a16="http://schemas.microsoft.com/office/drawing/2014/main" id="{8DC4E6D8-C573-D4C7-554F-D3BE8F01D525}"/>
              </a:ext>
            </a:extLst>
          </p:cNvPr>
          <p:cNvSpPr/>
          <p:nvPr/>
        </p:nvSpPr>
        <p:spPr>
          <a:xfrm>
            <a:off x="6809520" y="4596118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7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5378F88-1853-A5B1-36AB-3DE5C77AAE7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6173915" y="2890326"/>
            <a:ext cx="3266290" cy="18602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64305B0-860E-C683-25C1-6DBB952BE859}"/>
              </a:ext>
            </a:extLst>
          </p:cNvPr>
          <p:cNvSpPr/>
          <p:nvPr/>
        </p:nvSpPr>
        <p:spPr>
          <a:xfrm>
            <a:off x="9217125" y="2782611"/>
            <a:ext cx="446160" cy="1077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EACC1A3-860E-88F5-B1E4-B0498D8555DC}"/>
              </a:ext>
            </a:extLst>
          </p:cNvPr>
          <p:cNvCxnSpPr>
            <a:cxnSpLocks/>
          </p:cNvCxnSpPr>
          <p:nvPr/>
        </p:nvCxnSpPr>
        <p:spPr>
          <a:xfrm>
            <a:off x="6101765" y="5384981"/>
            <a:ext cx="0" cy="2489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700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3764239160"/>
              </p:ext>
            </p:extLst>
          </p:nvPr>
        </p:nvGraphicFramePr>
        <p:xfrm>
          <a:off x="134006" y="102476"/>
          <a:ext cx="11879325" cy="6625347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</a:t>
                      </a: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구매요청 관리 프로그램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트랜잭션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ZRC1MM0004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ABAP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ZRC1MM0004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405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98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</a:t>
                      </a:r>
                      <a:r>
                        <a:rPr lang="ko-KR" altLang="en-US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구매요청 생성 탭</a:t>
                      </a: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]</a:t>
                      </a:r>
                      <a:endParaRPr lang="en-US" altLang="ko-KR" sz="1200" b="1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구매요청번호 미리보기로 </a:t>
                      </a:r>
                      <a:r>
                        <a:rPr lang="ko-KR" altLang="en-US" sz="1200" b="0" dirty="0" err="1"/>
                        <a:t>채번</a:t>
                      </a:r>
                      <a:r>
                        <a:rPr lang="ko-KR" altLang="en-US" sz="1200" b="0" dirty="0"/>
                        <a:t> 전 상태 안내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저장 시점 </a:t>
                      </a:r>
                      <a:r>
                        <a:rPr lang="en-US" altLang="ko-KR" sz="1200" b="0" dirty="0"/>
                        <a:t>SNRO </a:t>
                      </a:r>
                      <a:r>
                        <a:rPr lang="ko-KR" altLang="en-US" sz="1200" b="0" dirty="0"/>
                        <a:t>객체</a:t>
                      </a:r>
                      <a:r>
                        <a:rPr lang="en-US" altLang="ko-KR" sz="1200" b="0" dirty="0"/>
                        <a:t>(ZNRC1MM01) </a:t>
                      </a:r>
                      <a:r>
                        <a:rPr lang="ko-KR" altLang="en-US" sz="1200" b="0" dirty="0"/>
                        <a:t>기반 </a:t>
                      </a:r>
                      <a:r>
                        <a:rPr lang="en-US" altLang="ko-KR" sz="1200" b="0" dirty="0"/>
                        <a:t>BANFN </a:t>
                      </a:r>
                      <a:r>
                        <a:rPr lang="ko-KR" altLang="en-US" sz="1200" b="0" dirty="0"/>
                        <a:t>자동 채번으로 번호 충돌 방지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플랜트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저장위치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기본값 자동 입력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품목번호</a:t>
                      </a:r>
                      <a:r>
                        <a:rPr lang="en-US" altLang="ko-KR" sz="1200" b="0" dirty="0"/>
                        <a:t>(BNFPO) 10</a:t>
                      </a:r>
                      <a:r>
                        <a:rPr lang="ko-KR" altLang="en-US" sz="1200" b="0" dirty="0"/>
                        <a:t>단위 자동 증가 및 </a:t>
                      </a: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초기화</a:t>
                      </a:r>
                      <a:r>
                        <a:rPr lang="en-US" altLang="ko-KR" sz="1200" b="0" dirty="0"/>
                        <a:t>]/[</a:t>
                      </a:r>
                      <a:r>
                        <a:rPr lang="ko-KR" altLang="en-US" sz="1200" b="0" dirty="0"/>
                        <a:t>품목 추가</a:t>
                      </a:r>
                      <a:r>
                        <a:rPr lang="en-US" altLang="ko-KR" sz="1200" b="0" dirty="0"/>
                        <a:t>]/[</a:t>
                      </a:r>
                      <a:r>
                        <a:rPr lang="ko-KR" altLang="en-US" sz="1200" b="0" dirty="0"/>
                        <a:t>품목 삭제</a:t>
                      </a:r>
                      <a:r>
                        <a:rPr lang="en-US" altLang="ko-KR" sz="1200" b="0" dirty="0"/>
                        <a:t>]/[</a:t>
                      </a:r>
                      <a:r>
                        <a:rPr lang="ko-KR" altLang="en-US" sz="1200" b="0" dirty="0"/>
                        <a:t>생성</a:t>
                      </a:r>
                      <a:r>
                        <a:rPr lang="en-US" altLang="ko-KR" sz="1200" b="0" dirty="0"/>
                        <a:t>] 4</a:t>
                      </a:r>
                      <a:r>
                        <a:rPr lang="ko-KR" altLang="en-US" sz="1200" b="0" dirty="0"/>
                        <a:t>단계 </a:t>
                      </a:r>
                      <a:r>
                        <a:rPr lang="ko-KR" altLang="en-US" sz="1200" b="0" dirty="0" err="1"/>
                        <a:t>툴바로</a:t>
                      </a:r>
                      <a:r>
                        <a:rPr lang="ko-KR" altLang="en-US" sz="1200" b="0" dirty="0"/>
                        <a:t> 직관적인 구매요청 생성 가능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자재번호 </a:t>
                      </a:r>
                      <a:r>
                        <a:rPr lang="en-US" altLang="ko-KR" sz="1200" dirty="0"/>
                        <a:t>Search Help</a:t>
                      </a:r>
                      <a:r>
                        <a:rPr lang="ko-KR" altLang="en-US" sz="1200" b="0" dirty="0"/>
                        <a:t>로 자재번호 필드에서 </a:t>
                      </a:r>
                      <a:r>
                        <a:rPr lang="en-US" altLang="ko-KR" sz="1200" b="0" dirty="0"/>
                        <a:t>ROH </a:t>
                      </a:r>
                      <a:r>
                        <a:rPr lang="ko-KR" altLang="en-US" sz="1200" b="0" dirty="0"/>
                        <a:t>자재 선택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또는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입력 시 </a:t>
                      </a:r>
                      <a:r>
                        <a:rPr lang="ko-KR" altLang="en-US" sz="1200" b="0" dirty="0" err="1"/>
                        <a:t>자재명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단위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단가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통화 자동 세팅 및 수량 입력 시 총 금액 실시간 계산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미사용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자재는 직접 입력해도 차단하여 자재마스터 정합성 유지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필드별 활성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비활성 제어로 </a:t>
                      </a:r>
                      <a:r>
                        <a:rPr lang="ko-KR" altLang="en-US" sz="1200" b="0" dirty="0" err="1"/>
                        <a:t>자동세팅</a:t>
                      </a:r>
                      <a:r>
                        <a:rPr lang="ko-KR" altLang="en-US" sz="1200" b="0" dirty="0"/>
                        <a:t> 필드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 err="1"/>
                        <a:t>자재명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단가 등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입력 잠금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dirty="0"/>
                        <a:t>납기일 과거 입력 차단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긴급</a:t>
                      </a:r>
                      <a:r>
                        <a:rPr lang="en-US" altLang="ko-KR" sz="1200" b="0" dirty="0"/>
                        <a:t>(URGENT) </a:t>
                      </a:r>
                      <a:r>
                        <a:rPr lang="ko-KR" altLang="en-US" sz="1200" b="0" dirty="0"/>
                        <a:t>구매사유 포함 시 </a:t>
                      </a:r>
                      <a:r>
                        <a:rPr lang="en-US" altLang="ko-KR" sz="1200" b="0" dirty="0"/>
                        <a:t>BSART</a:t>
                      </a:r>
                      <a:r>
                        <a:rPr lang="ko-KR" altLang="en-US" sz="1200" b="0" dirty="0"/>
                        <a:t>를 </a:t>
                      </a:r>
                      <a:r>
                        <a:rPr lang="en-US" altLang="ko-KR" sz="1200" b="0" dirty="0"/>
                        <a:t>ZEMG</a:t>
                      </a:r>
                      <a:r>
                        <a:rPr lang="ko-KR" altLang="en-US" sz="1200" b="0" dirty="0"/>
                        <a:t>로 자동 분기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그 외 </a:t>
                      </a:r>
                      <a:r>
                        <a:rPr lang="en-US" altLang="ko-KR" sz="1200" b="0" dirty="0"/>
                        <a:t>NB(</a:t>
                      </a:r>
                      <a:r>
                        <a:rPr lang="ko-KR" altLang="en-US" sz="1200" b="0" dirty="0"/>
                        <a:t>일반구매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로 헤더 생성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검증 → 확인 팝업 → </a:t>
                      </a:r>
                      <a:r>
                        <a:rPr lang="ko-KR" altLang="en-US" sz="1200" b="0" dirty="0" err="1"/>
                        <a:t>채번</a:t>
                      </a:r>
                      <a:r>
                        <a:rPr lang="en-US" altLang="ko-KR" sz="1200" b="0" dirty="0"/>
                        <a:t>+INSERT]</a:t>
                      </a:r>
                      <a:r>
                        <a:rPr lang="ko-KR" altLang="en-US" sz="1200" b="0" dirty="0"/>
                        <a:t> 으로 </a:t>
                      </a:r>
                      <a:r>
                        <a:rPr lang="ko-KR" altLang="en-US" sz="1200" b="0" dirty="0" err="1"/>
                        <a:t>필수값</a:t>
                      </a:r>
                      <a:r>
                        <a:rPr lang="ko-KR" altLang="en-US" sz="1200" b="0" dirty="0"/>
                        <a:t> 누락 방지 및 헤더</a:t>
                      </a:r>
                      <a:r>
                        <a:rPr lang="en-US" altLang="ko-KR" sz="1200" b="0" dirty="0"/>
                        <a:t>(ZTC1MM0025)+</a:t>
                      </a:r>
                      <a:r>
                        <a:rPr lang="ko-KR" altLang="en-US" sz="1200" b="0" dirty="0"/>
                        <a:t>아이템</a:t>
                      </a:r>
                      <a:r>
                        <a:rPr lang="en-US" altLang="ko-KR" sz="1200" b="0" dirty="0"/>
                        <a:t>(ZTC1MM0026) </a:t>
                      </a:r>
                      <a:r>
                        <a:rPr lang="ko-KR" altLang="en-US" sz="1200" b="0" dirty="0"/>
                        <a:t>동시 </a:t>
                      </a:r>
                      <a:r>
                        <a:rPr lang="en-US" altLang="ko-KR" sz="1200" b="0" dirty="0"/>
                        <a:t>INSERT</a:t>
                      </a:r>
                      <a:r>
                        <a:rPr lang="ko-KR" altLang="en-US" sz="1200" b="0" dirty="0"/>
                        <a:t>로 정합성 확보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저장 완료 후 화면 초기화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미리보기 번호 갱신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조회 탭 리스트 동기 갱신으로 양 탭 간 데이터 일관성 유지</a:t>
                      </a: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맑은 고딕"/>
                        <a:ea typeface="맑은 고딕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r>
                        <a:rPr lang="en-US" altLang="ko-KR" sz="1400" b="1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Table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자재마스터 테이블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( ZTC1MM0001 )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구매요청 헤더 테이블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( ZTC1MM0025 )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구매요청 아이템 테이블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( ZTC1MM0026 )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구매정보레코드 헤더 테이블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( ZTC1MM0021 )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구매정보레코드 아이템 테이블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( ZTC1MM0022 )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플랜트 마스터 테이블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( ZTC1PP0000 )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/>
                        <a:t>사원 마스터 테이블 </a:t>
                      </a:r>
                      <a:r>
                        <a:rPr lang="en-US" altLang="ko-KR" sz="1200" b="0" dirty="0"/>
                        <a:t>( ZTC1HR0001 )</a:t>
                      </a: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8" name="Picture 107" descr="178297914733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059" y="1174981"/>
            <a:ext cx="6748272" cy="3196175"/>
          </a:xfrm>
          <a:prstGeom prst="rect">
            <a:avLst/>
          </a:prstGeom>
        </p:spPr>
      </p:pic>
      <p:pic>
        <p:nvPicPr>
          <p:cNvPr id="109" name="Picture 108" descr="178297911561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860" y="4493086"/>
            <a:ext cx="1828800" cy="1587554"/>
          </a:xfrm>
          <a:prstGeom prst="rect">
            <a:avLst/>
          </a:prstGeom>
        </p:spPr>
      </p:pic>
      <p:pic>
        <p:nvPicPr>
          <p:cNvPr id="110" name="Picture 109" descr="1782979161330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3428" y="4480934"/>
            <a:ext cx="2011680" cy="635798"/>
          </a:xfrm>
          <a:prstGeom prst="rect">
            <a:avLst/>
          </a:prstGeom>
        </p:spPr>
      </p:pic>
      <p:pic>
        <p:nvPicPr>
          <p:cNvPr id="111" name="Picture 110" descr="1782979167331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362" y="5376742"/>
            <a:ext cx="2011680" cy="213458"/>
          </a:xfrm>
          <a:prstGeom prst="rect">
            <a:avLst/>
          </a:prstGeom>
        </p:spPr>
      </p:pic>
      <p:pic>
        <p:nvPicPr>
          <p:cNvPr id="112" name="Picture 111" descr="1782979246660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378" y="5820012"/>
            <a:ext cx="4599330" cy="54219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6753110-7010-E862-005F-D23646E008C7}"/>
              </a:ext>
            </a:extLst>
          </p:cNvPr>
          <p:cNvSpPr/>
          <p:nvPr/>
        </p:nvSpPr>
        <p:spPr>
          <a:xfrm>
            <a:off x="5265059" y="1926787"/>
            <a:ext cx="1198964" cy="23874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69CB13AC-46F4-7850-667B-212E6EF2D979}"/>
              </a:ext>
            </a:extLst>
          </p:cNvPr>
          <p:cNvSpPr/>
          <p:nvPr/>
        </p:nvSpPr>
        <p:spPr>
          <a:xfrm>
            <a:off x="5217212" y="1777873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C86F2C-0D07-8B8B-678A-B07457519066}"/>
              </a:ext>
            </a:extLst>
          </p:cNvPr>
          <p:cNvSpPr/>
          <p:nvPr/>
        </p:nvSpPr>
        <p:spPr>
          <a:xfrm>
            <a:off x="6585035" y="2613330"/>
            <a:ext cx="242517" cy="3056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Google Shape;65;p14">
            <a:extLst>
              <a:ext uri="{FF2B5EF4-FFF2-40B4-BE49-F238E27FC236}">
                <a16:creationId xmlns:a16="http://schemas.microsoft.com/office/drawing/2014/main" id="{325C8B67-2FD5-ED55-17E8-400FC4D68DE5}"/>
              </a:ext>
            </a:extLst>
          </p:cNvPr>
          <p:cNvSpPr/>
          <p:nvPr/>
        </p:nvSpPr>
        <p:spPr>
          <a:xfrm>
            <a:off x="6476441" y="2480135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872318-2CF4-E640-42DD-52B0C2A4DF10}"/>
              </a:ext>
            </a:extLst>
          </p:cNvPr>
          <p:cNvSpPr/>
          <p:nvPr/>
        </p:nvSpPr>
        <p:spPr>
          <a:xfrm>
            <a:off x="6848173" y="2613330"/>
            <a:ext cx="594248" cy="3056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96EE24B-3E8D-DC33-7969-C4449989C15C}"/>
              </a:ext>
            </a:extLst>
          </p:cNvPr>
          <p:cNvCxnSpPr>
            <a:cxnSpLocks/>
          </p:cNvCxnSpPr>
          <p:nvPr/>
        </p:nvCxnSpPr>
        <p:spPr>
          <a:xfrm flipH="1">
            <a:off x="6526966" y="2918995"/>
            <a:ext cx="606535" cy="1584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040087-CF4F-F80A-934F-3A93150F4C5D}"/>
              </a:ext>
            </a:extLst>
          </p:cNvPr>
          <p:cNvSpPr/>
          <p:nvPr/>
        </p:nvSpPr>
        <p:spPr>
          <a:xfrm>
            <a:off x="10259833" y="2613329"/>
            <a:ext cx="1033670" cy="3056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70FC5B4F-340E-5A5A-C596-58D5563E231B}"/>
              </a:ext>
            </a:extLst>
          </p:cNvPr>
          <p:cNvSpPr/>
          <p:nvPr/>
        </p:nvSpPr>
        <p:spPr>
          <a:xfrm>
            <a:off x="10163057" y="2444238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" name="Google Shape;65;p14">
            <a:extLst>
              <a:ext uri="{FF2B5EF4-FFF2-40B4-BE49-F238E27FC236}">
                <a16:creationId xmlns:a16="http://schemas.microsoft.com/office/drawing/2014/main" id="{B121395C-7B7B-2768-42C0-16A3E80F9439}"/>
              </a:ext>
            </a:extLst>
          </p:cNvPr>
          <p:cNvSpPr/>
          <p:nvPr/>
        </p:nvSpPr>
        <p:spPr>
          <a:xfrm>
            <a:off x="11390279" y="2444238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EE619F-64D9-60B4-9E6A-3C4842B62726}"/>
              </a:ext>
            </a:extLst>
          </p:cNvPr>
          <p:cNvSpPr/>
          <p:nvPr/>
        </p:nvSpPr>
        <p:spPr>
          <a:xfrm>
            <a:off x="11536975" y="2613329"/>
            <a:ext cx="393958" cy="3056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7C2D2D8-C13A-770D-C6E5-51C176C2141E}"/>
              </a:ext>
            </a:extLst>
          </p:cNvPr>
          <p:cNvSpPr/>
          <p:nvPr/>
        </p:nvSpPr>
        <p:spPr>
          <a:xfrm>
            <a:off x="7617350" y="2515888"/>
            <a:ext cx="242517" cy="8021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3925531-E5C8-7DA7-9053-528444136DA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7738609" y="2596101"/>
            <a:ext cx="1889215" cy="18848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45F0C4D-82E0-5CCD-1E9F-B5C8E2F9EDE1}"/>
              </a:ext>
            </a:extLst>
          </p:cNvPr>
          <p:cNvCxnSpPr>
            <a:cxnSpLocks/>
            <a:endCxn id="111" idx="0"/>
          </p:cNvCxnSpPr>
          <p:nvPr/>
        </p:nvCxnSpPr>
        <p:spPr>
          <a:xfrm>
            <a:off x="10241202" y="5114700"/>
            <a:ext cx="0" cy="262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78BA594-28FE-4B62-5004-14EBAA915ECF}"/>
              </a:ext>
            </a:extLst>
          </p:cNvPr>
          <p:cNvSpPr/>
          <p:nvPr/>
        </p:nvSpPr>
        <p:spPr>
          <a:xfrm>
            <a:off x="6485624" y="3812650"/>
            <a:ext cx="5445309" cy="34950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EC19DF7-0403-E989-761B-CFEE0BB2870E}"/>
              </a:ext>
            </a:extLst>
          </p:cNvPr>
          <p:cNvCxnSpPr>
            <a:cxnSpLocks/>
          </p:cNvCxnSpPr>
          <p:nvPr/>
        </p:nvCxnSpPr>
        <p:spPr>
          <a:xfrm>
            <a:off x="7133501" y="2918995"/>
            <a:ext cx="552392" cy="8936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CB74335F-7C5D-450F-9F39-0F3B12B956BD}"/>
              </a:ext>
            </a:extLst>
          </p:cNvPr>
          <p:cNvSpPr/>
          <p:nvPr/>
        </p:nvSpPr>
        <p:spPr>
          <a:xfrm>
            <a:off x="7106600" y="2829430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9" name="Google Shape;65;p14">
            <a:extLst>
              <a:ext uri="{FF2B5EF4-FFF2-40B4-BE49-F238E27FC236}">
                <a16:creationId xmlns:a16="http://schemas.microsoft.com/office/drawing/2014/main" id="{6379D2AF-8D71-C375-568A-A6EB53B1BC09}"/>
              </a:ext>
            </a:extLst>
          </p:cNvPr>
          <p:cNvSpPr/>
          <p:nvPr/>
        </p:nvSpPr>
        <p:spPr>
          <a:xfrm>
            <a:off x="9132269" y="4336827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6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0" name="Google Shape;65;p14">
            <a:extLst>
              <a:ext uri="{FF2B5EF4-FFF2-40B4-BE49-F238E27FC236}">
                <a16:creationId xmlns:a16="http://schemas.microsoft.com/office/drawing/2014/main" id="{AD478A89-44DA-0F81-10AE-35B924739B95}"/>
              </a:ext>
            </a:extLst>
          </p:cNvPr>
          <p:cNvSpPr/>
          <p:nvPr/>
        </p:nvSpPr>
        <p:spPr>
          <a:xfrm>
            <a:off x="11775248" y="5701650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7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52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1961120239"/>
              </p:ext>
            </p:extLst>
          </p:nvPr>
        </p:nvGraphicFramePr>
        <p:xfrm>
          <a:off x="134006" y="102476"/>
          <a:ext cx="11879325" cy="6576685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8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</a:t>
                      </a:r>
                      <a:r>
                        <a:rPr lang="ko-KR" alt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구매오더</a:t>
                      </a: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관리 프로그램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66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트랜잭션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ZRC1MM0005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ABAP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8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ZRC1MM0005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866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32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Malgun Gothic"/>
                          <a:sym typeface="Malgun Gothic"/>
                        </a:rPr>
                        <a:t>Description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/>
                        <a:t>확정된 구매요청</a:t>
                      </a:r>
                      <a:r>
                        <a:rPr lang="en-US" altLang="ko-KR" sz="1200" b="0" dirty="0"/>
                        <a:t>(PR)</a:t>
                      </a:r>
                      <a:r>
                        <a:rPr lang="ko-KR" altLang="en-US" sz="1200" b="0" dirty="0"/>
                        <a:t>을 </a:t>
                      </a:r>
                      <a:r>
                        <a:rPr lang="ko-KR" altLang="en-US" sz="1200" b="1" dirty="0" err="1"/>
                        <a:t>벤더별</a:t>
                      </a:r>
                      <a:r>
                        <a:rPr lang="ko-KR" altLang="en-US" sz="1200" b="1" dirty="0"/>
                        <a:t> </a:t>
                      </a:r>
                      <a:r>
                        <a:rPr lang="ko-KR" altLang="en-US" sz="1200" b="1" dirty="0" err="1"/>
                        <a:t>구매오더</a:t>
                      </a:r>
                      <a:r>
                        <a:rPr lang="en-US" altLang="ko-KR" sz="1200" b="1" dirty="0"/>
                        <a:t>(PO)</a:t>
                      </a:r>
                      <a:r>
                        <a:rPr lang="ko-KR" altLang="en-US" sz="1200" b="1" dirty="0"/>
                        <a:t>로 전환</a:t>
                      </a:r>
                      <a:r>
                        <a:rPr lang="ko-KR" altLang="en-US" sz="1200" dirty="0"/>
                        <a:t>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상신부터 승인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반려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재상신까지 </a:t>
                      </a:r>
                      <a:r>
                        <a:rPr lang="ko-KR" altLang="en-US" sz="1200" b="1" dirty="0"/>
                        <a:t>구매 결재 프로세스를 통합 관리</a:t>
                      </a:r>
                      <a:r>
                        <a:rPr lang="ko-KR" altLang="en-US" sz="1200" dirty="0"/>
                        <a:t>하는 프로그램으로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b="0" dirty="0"/>
                        <a:t>탭 스트립 기반의 </a:t>
                      </a:r>
                      <a:r>
                        <a:rPr lang="en-US" altLang="ko-KR" sz="1200" b="1" dirty="0"/>
                        <a:t>[</a:t>
                      </a:r>
                      <a:r>
                        <a:rPr lang="ko-KR" altLang="en-US" sz="1200" b="1" dirty="0" err="1"/>
                        <a:t>구매오더</a:t>
                      </a:r>
                      <a:r>
                        <a:rPr lang="ko-KR" altLang="en-US" sz="1200" b="1" dirty="0"/>
                        <a:t> 생성</a:t>
                      </a:r>
                      <a:r>
                        <a:rPr lang="en-US" altLang="ko-KR" sz="1200" b="1" dirty="0"/>
                        <a:t>] / [</a:t>
                      </a:r>
                      <a:r>
                        <a:rPr lang="ko-KR" altLang="en-US" sz="1200" b="1" dirty="0" err="1"/>
                        <a:t>구매오더</a:t>
                      </a:r>
                      <a:r>
                        <a:rPr lang="ko-KR" altLang="en-US" sz="1200" b="1" dirty="0"/>
                        <a:t> 결재</a:t>
                      </a:r>
                      <a:r>
                        <a:rPr lang="en-US" altLang="ko-KR" sz="1200" b="1" dirty="0"/>
                        <a:t>] </a:t>
                      </a:r>
                      <a:r>
                        <a:rPr lang="ko-KR" altLang="en-US" sz="1200" b="0" dirty="0"/>
                        <a:t>로 분리 구성</a:t>
                      </a:r>
                      <a:endParaRPr lang="en-US" altLang="ko-KR" sz="1200" b="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1200" b="0" i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</a:t>
                      </a:r>
                      <a:r>
                        <a:rPr lang="ko-KR" altLang="en-US" sz="1200" b="1" i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구매오더</a:t>
                      </a:r>
                      <a:r>
                        <a:rPr lang="ko-KR" altLang="en-US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생성 탭</a:t>
                      </a: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]</a:t>
                      </a:r>
                      <a:endParaRPr lang="en-US" altLang="ko-KR" sz="1200" b="1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좌측 </a:t>
                      </a:r>
                      <a:r>
                        <a:rPr lang="en-US" altLang="ko-KR" sz="1200" b="0" dirty="0"/>
                        <a:t>ALV</a:t>
                      </a:r>
                      <a:r>
                        <a:rPr lang="ko-KR" altLang="en-US" sz="1200" b="0" dirty="0"/>
                        <a:t>에 확정 완료</a:t>
                      </a:r>
                      <a:r>
                        <a:rPr lang="en-US" altLang="ko-KR" sz="1200" b="0" dirty="0"/>
                        <a:t>(FC) + </a:t>
                      </a:r>
                      <a:r>
                        <a:rPr lang="ko-KR" altLang="en-US" sz="1200" b="0" dirty="0" err="1"/>
                        <a:t>미전환</a:t>
                      </a:r>
                      <a:r>
                        <a:rPr lang="ko-KR" altLang="en-US" sz="1200" b="0" dirty="0"/>
                        <a:t> 구매요청 목록 표시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더블클릭 시 우측에 해당 품목 중 현재 날짜 기준 유효한 계약 단가</a:t>
                      </a:r>
                      <a:r>
                        <a:rPr lang="en-US" altLang="ko-KR" sz="1200" b="0" dirty="0"/>
                        <a:t>(PIR)</a:t>
                      </a:r>
                      <a:r>
                        <a:rPr lang="ko-KR" altLang="en-US" sz="1200" b="0" dirty="0"/>
                        <a:t>가 존재하는 품목을 벤더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단가와 함께 표시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우측 상세내용에서 품목을 개별 또는 일괄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전체 선택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체크 후 </a:t>
                      </a: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 err="1"/>
                        <a:t>구매오더</a:t>
                      </a:r>
                      <a:r>
                        <a:rPr lang="ko-KR" altLang="en-US" sz="1200" b="0" dirty="0"/>
                        <a:t> 대상 추가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클릭 시 하단 </a:t>
                      </a:r>
                      <a:r>
                        <a:rPr lang="en-US" altLang="ko-KR" sz="1200" b="0" dirty="0"/>
                        <a:t>Tree(</a:t>
                      </a:r>
                      <a:r>
                        <a:rPr lang="ko-KR" altLang="en-US" sz="1200" b="0" dirty="0" err="1"/>
                        <a:t>공급업체→품목</a:t>
                      </a:r>
                      <a:r>
                        <a:rPr lang="ko-KR" altLang="en-US" sz="1200" b="0" dirty="0"/>
                        <a:t> 계층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로 이동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이동 완료 품목은 초록색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체크박스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잠금으로 중복 추가 방지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1200" b="0" dirty="0"/>
                        <a:t>Tree </a:t>
                      </a:r>
                      <a:r>
                        <a:rPr lang="ko-KR" altLang="en-US" sz="1200" b="0" dirty="0"/>
                        <a:t>이동 시 표준발주수량</a:t>
                      </a:r>
                      <a:r>
                        <a:rPr lang="en-US" altLang="ko-KR" sz="1200" b="0" dirty="0"/>
                        <a:t>(NORBM) </a:t>
                      </a:r>
                      <a:r>
                        <a:rPr lang="ko-KR" altLang="en-US" sz="1200" b="0" dirty="0"/>
                        <a:t>배수 올림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최소주문수량</a:t>
                      </a:r>
                      <a:r>
                        <a:rPr lang="en-US" altLang="ko-KR" sz="1200" b="0" dirty="0"/>
                        <a:t>(MINBM) </a:t>
                      </a:r>
                      <a:r>
                        <a:rPr lang="ko-KR" altLang="en-US" sz="1200" b="0" dirty="0"/>
                        <a:t>하한 보정으로 발주수량 자동 산정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벤더 노드에 수량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금액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최소 납기일 소계 자동 집계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1200" b="0" dirty="0"/>
                        <a:t>Tree </a:t>
                      </a:r>
                      <a:r>
                        <a:rPr lang="ko-KR" altLang="en-US" sz="1200" b="0" dirty="0"/>
                        <a:t>삭제 아이콘 클릭 시 해당 품목 제거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우측 </a:t>
                      </a:r>
                      <a:r>
                        <a:rPr lang="en-US" altLang="ko-KR" sz="1200" b="0" dirty="0"/>
                        <a:t>ALV </a:t>
                      </a:r>
                      <a:r>
                        <a:rPr lang="ko-KR" altLang="en-US" sz="1200" b="0" dirty="0"/>
                        <a:t>복원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마지막 </a:t>
                      </a:r>
                      <a:r>
                        <a:rPr lang="ko-KR" altLang="en-US" sz="1200" b="0" dirty="0" err="1"/>
                        <a:t>하위노드</a:t>
                      </a:r>
                      <a:r>
                        <a:rPr lang="ko-KR" altLang="en-US" sz="1200" b="0" dirty="0"/>
                        <a:t> 제거 시 상위 </a:t>
                      </a:r>
                      <a:r>
                        <a:rPr lang="ko-KR" altLang="en-US" sz="1200" b="0" dirty="0" err="1"/>
                        <a:t>벤더노드</a:t>
                      </a:r>
                      <a:r>
                        <a:rPr lang="ko-KR" altLang="en-US" sz="1200" b="0" dirty="0"/>
                        <a:t> 자동 제거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좌측 구매요청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상태 아이콘을 </a:t>
                      </a:r>
                      <a:r>
                        <a:rPr lang="en-US" altLang="ko-KR" sz="1200" b="0" dirty="0"/>
                        <a:t>Tree </a:t>
                      </a:r>
                      <a:r>
                        <a:rPr lang="ko-KR" altLang="en-US" sz="1200" b="0" dirty="0"/>
                        <a:t>이동 건수 기준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 err="1"/>
                        <a:t>미이동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빨강 </a:t>
                      </a:r>
                      <a:r>
                        <a:rPr lang="en-US" altLang="ko-KR" sz="1200" b="0" dirty="0"/>
                        <a:t>/ </a:t>
                      </a:r>
                      <a:r>
                        <a:rPr lang="ko-KR" altLang="en-US" sz="1200" b="0" dirty="0"/>
                        <a:t>일부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노랑 </a:t>
                      </a:r>
                      <a:r>
                        <a:rPr lang="en-US" altLang="ko-KR" sz="1200" b="0" dirty="0"/>
                        <a:t>/ </a:t>
                      </a:r>
                      <a:r>
                        <a:rPr lang="ko-KR" altLang="en-US" sz="1200" b="0" dirty="0"/>
                        <a:t>전체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초록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 으로 실시간 갱신하여 </a:t>
                      </a:r>
                      <a:r>
                        <a:rPr lang="ko-KR" altLang="en-US" sz="1200" b="0" dirty="0" err="1"/>
                        <a:t>구매오더</a:t>
                      </a:r>
                      <a:r>
                        <a:rPr lang="ko-KR" altLang="en-US" sz="1200" b="0" dirty="0"/>
                        <a:t> 생성 진행률 시각화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 err="1"/>
                        <a:t>구매오더</a:t>
                      </a:r>
                      <a:r>
                        <a:rPr lang="ko-KR" altLang="en-US" sz="1200" b="0" dirty="0"/>
                        <a:t> 생성</a:t>
                      </a:r>
                      <a:r>
                        <a:rPr lang="en-US" altLang="ko-KR" sz="1200" b="0" dirty="0"/>
                        <a:t>]</a:t>
                      </a:r>
                      <a:r>
                        <a:rPr lang="ko-KR" altLang="en-US" sz="1200" b="0" dirty="0"/>
                        <a:t> 버튼 클릭 시 벤더별로 품목을 묶어 </a:t>
                      </a:r>
                      <a:r>
                        <a:rPr lang="ko-KR" altLang="en-US" sz="1200" b="0" dirty="0" err="1"/>
                        <a:t>구매오더</a:t>
                      </a:r>
                      <a:r>
                        <a:rPr lang="ko-KR" altLang="en-US" sz="1200" b="0" dirty="0"/>
                        <a:t> 분리 생성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 err="1"/>
                        <a:t>구매오더번호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자동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 err="1"/>
                        <a:t>채번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긴급</a:t>
                      </a:r>
                      <a:r>
                        <a:rPr lang="en-US" altLang="ko-KR" sz="1200" b="0" dirty="0"/>
                        <a:t>(ZEMG) </a:t>
                      </a:r>
                      <a:r>
                        <a:rPr lang="ko-KR" altLang="en-US" sz="1200" b="0" dirty="0"/>
                        <a:t>품목 포함 시 문서유형 </a:t>
                      </a:r>
                      <a:r>
                        <a:rPr lang="en-US" altLang="ko-KR" sz="1200" b="0" dirty="0"/>
                        <a:t>ZEMG/</a:t>
                      </a:r>
                      <a:r>
                        <a:rPr lang="ko-KR" altLang="en-US" sz="1200" b="0" dirty="0"/>
                        <a:t>그 외 </a:t>
                      </a:r>
                      <a:r>
                        <a:rPr lang="en-US" altLang="ko-KR" sz="1200" b="0" dirty="0"/>
                        <a:t>NB </a:t>
                      </a:r>
                      <a:r>
                        <a:rPr lang="ko-KR" altLang="en-US" sz="1200" b="0" dirty="0"/>
                        <a:t>자동 분기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구매사유 요약을 헤더 비고에 저장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계약 </a:t>
                      </a:r>
                      <a:r>
                        <a:rPr lang="en-US" altLang="ko-KR" sz="1200" b="0" dirty="0"/>
                        <a:t>PIR(INFNR) </a:t>
                      </a:r>
                      <a:r>
                        <a:rPr lang="ko-KR" altLang="en-US" sz="1200" b="0" dirty="0"/>
                        <a:t>연결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원본 구매요청 품목에 </a:t>
                      </a:r>
                      <a:r>
                        <a:rPr lang="ko-KR" altLang="en-US" sz="1200" b="0" dirty="0" err="1"/>
                        <a:t>구매오더번호를</a:t>
                      </a:r>
                      <a:r>
                        <a:rPr lang="ko-KR" altLang="en-US" sz="1200" b="0" dirty="0"/>
                        <a:t> 기록해 </a:t>
                      </a:r>
                      <a:r>
                        <a:rPr lang="en-US" altLang="ko-KR" sz="1200" b="0" dirty="0"/>
                        <a:t>PR→PO </a:t>
                      </a:r>
                      <a:r>
                        <a:rPr lang="ko-KR" altLang="en-US" sz="1200" b="0" dirty="0" err="1"/>
                        <a:t>역추적</a:t>
                      </a:r>
                      <a:r>
                        <a:rPr lang="ko-KR" altLang="en-US" sz="1200" b="0" dirty="0"/>
                        <a:t> 확보</a:t>
                      </a:r>
                      <a:endParaRPr lang="en-US" altLang="ko-KR" sz="1200" b="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8" name="Picture 107" descr="178297925692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734" y="1161953"/>
            <a:ext cx="5916168" cy="3022792"/>
          </a:xfrm>
          <a:prstGeom prst="rect">
            <a:avLst/>
          </a:prstGeom>
        </p:spPr>
      </p:pic>
      <p:pic>
        <p:nvPicPr>
          <p:cNvPr id="109" name="Picture 108" descr="1782979281206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734" y="4353209"/>
            <a:ext cx="6309360" cy="1605957"/>
          </a:xfrm>
          <a:prstGeom prst="rect">
            <a:avLst/>
          </a:prstGeom>
        </p:spPr>
      </p:pic>
      <p:pic>
        <p:nvPicPr>
          <p:cNvPr id="110" name="Picture 109" descr="1782979290608_image.png"/>
          <p:cNvPicPr>
            <a:picLocks noChangeAspect="1"/>
          </p:cNvPicPr>
          <p:nvPr/>
        </p:nvPicPr>
        <p:blipFill>
          <a:blip r:embed="rId5"/>
          <a:srcRect t="4216" r="958" b="-1"/>
          <a:stretch/>
        </p:blipFill>
        <p:spPr>
          <a:xfrm>
            <a:off x="5523559" y="6040893"/>
            <a:ext cx="1992411" cy="593125"/>
          </a:xfrm>
          <a:prstGeom prst="rect">
            <a:avLst/>
          </a:prstGeom>
        </p:spPr>
      </p:pic>
      <p:pic>
        <p:nvPicPr>
          <p:cNvPr id="111" name="Picture 110" descr="1782979298977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2704" y="6225724"/>
            <a:ext cx="1371600" cy="223462"/>
          </a:xfrm>
          <a:prstGeom prst="rect">
            <a:avLst/>
          </a:prstGeom>
        </p:spPr>
      </p:pic>
      <p:cxnSp>
        <p:nvCxnSpPr>
          <p:cNvPr id="114" name="Connector 113"/>
          <p:cNvCxnSpPr/>
          <p:nvPr/>
        </p:nvCxnSpPr>
        <p:spPr>
          <a:xfrm>
            <a:off x="7726756" y="1926787"/>
            <a:ext cx="295809" cy="0"/>
          </a:xfrm>
          <a:prstGeom prst="line">
            <a:avLst/>
          </a:prstGeom>
          <a:ln w="19050">
            <a:solidFill>
              <a:srgbClr val="E0141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D8687C-031D-F46B-68A2-8230FFF977D6}"/>
              </a:ext>
            </a:extLst>
          </p:cNvPr>
          <p:cNvSpPr/>
          <p:nvPr/>
        </p:nvSpPr>
        <p:spPr>
          <a:xfrm>
            <a:off x="5389123" y="2324910"/>
            <a:ext cx="1780162" cy="100194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C086CD-46D3-092A-5CC3-7D751D1824EB}"/>
              </a:ext>
            </a:extLst>
          </p:cNvPr>
          <p:cNvSpPr/>
          <p:nvPr/>
        </p:nvSpPr>
        <p:spPr>
          <a:xfrm>
            <a:off x="11359464" y="5370348"/>
            <a:ext cx="183842" cy="53747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9296F1-90B3-4DC1-8F8A-7CADA091E704}"/>
              </a:ext>
            </a:extLst>
          </p:cNvPr>
          <p:cNvSpPr/>
          <p:nvPr/>
        </p:nvSpPr>
        <p:spPr>
          <a:xfrm>
            <a:off x="7538539" y="4359166"/>
            <a:ext cx="4040623" cy="7348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3A4109D1-E055-85CA-6C32-3F7BAED4C694}"/>
              </a:ext>
            </a:extLst>
          </p:cNvPr>
          <p:cNvSpPr/>
          <p:nvPr/>
        </p:nvSpPr>
        <p:spPr>
          <a:xfrm>
            <a:off x="11470143" y="4216719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0E7AEC11-6A76-4FD9-2D66-D271FABF8124}"/>
              </a:ext>
            </a:extLst>
          </p:cNvPr>
          <p:cNvSpPr/>
          <p:nvPr/>
        </p:nvSpPr>
        <p:spPr>
          <a:xfrm>
            <a:off x="5263130" y="2245227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4961D9-E7F9-F43F-5147-A8EE41A3AC7A}"/>
              </a:ext>
            </a:extLst>
          </p:cNvPr>
          <p:cNvSpPr/>
          <p:nvPr/>
        </p:nvSpPr>
        <p:spPr>
          <a:xfrm>
            <a:off x="7535239" y="5267041"/>
            <a:ext cx="4040622" cy="6978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Google Shape;65;p14">
            <a:extLst>
              <a:ext uri="{FF2B5EF4-FFF2-40B4-BE49-F238E27FC236}">
                <a16:creationId xmlns:a16="http://schemas.microsoft.com/office/drawing/2014/main" id="{646D6894-0586-D8C2-868A-3CD328E20610}"/>
              </a:ext>
            </a:extLst>
          </p:cNvPr>
          <p:cNvSpPr/>
          <p:nvPr/>
        </p:nvSpPr>
        <p:spPr>
          <a:xfrm>
            <a:off x="11470143" y="5120047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87354FD-DA3E-B766-3391-CF2253343B46}"/>
              </a:ext>
            </a:extLst>
          </p:cNvPr>
          <p:cNvSpPr/>
          <p:nvPr/>
        </p:nvSpPr>
        <p:spPr>
          <a:xfrm>
            <a:off x="5365143" y="4517396"/>
            <a:ext cx="192873" cy="94780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Google Shape;65;p14">
            <a:extLst>
              <a:ext uri="{FF2B5EF4-FFF2-40B4-BE49-F238E27FC236}">
                <a16:creationId xmlns:a16="http://schemas.microsoft.com/office/drawing/2014/main" id="{DC4DF085-48DB-A258-4150-686F797CED7C}"/>
              </a:ext>
            </a:extLst>
          </p:cNvPr>
          <p:cNvSpPr/>
          <p:nvPr/>
        </p:nvSpPr>
        <p:spPr>
          <a:xfrm>
            <a:off x="11190357" y="5295792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8FD38B5A-946F-1BA5-4A32-230CE6DD3636}"/>
              </a:ext>
            </a:extLst>
          </p:cNvPr>
          <p:cNvSpPr/>
          <p:nvPr/>
        </p:nvSpPr>
        <p:spPr>
          <a:xfrm>
            <a:off x="5241577" y="4387978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" name="Google Shape;65;p14">
            <a:extLst>
              <a:ext uri="{FF2B5EF4-FFF2-40B4-BE49-F238E27FC236}">
                <a16:creationId xmlns:a16="http://schemas.microsoft.com/office/drawing/2014/main" id="{DC0A8E36-AC85-E339-5152-0FBF067CB74F}"/>
              </a:ext>
            </a:extLst>
          </p:cNvPr>
          <p:cNvSpPr/>
          <p:nvPr/>
        </p:nvSpPr>
        <p:spPr>
          <a:xfrm>
            <a:off x="5417841" y="5879948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6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E33F13-25F9-CFEA-3FCA-FEDBBEB09274}"/>
              </a:ext>
            </a:extLst>
          </p:cNvPr>
          <p:cNvSpPr/>
          <p:nvPr/>
        </p:nvSpPr>
        <p:spPr>
          <a:xfrm>
            <a:off x="7726756" y="5232283"/>
            <a:ext cx="422079" cy="15664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4CACB6E-7911-6C69-7550-6B99C3DE6AF7}"/>
              </a:ext>
            </a:extLst>
          </p:cNvPr>
          <p:cNvCxnSpPr>
            <a:cxnSpLocks/>
            <a:endCxn id="110" idx="0"/>
          </p:cNvCxnSpPr>
          <p:nvPr/>
        </p:nvCxnSpPr>
        <p:spPr>
          <a:xfrm flipH="1">
            <a:off x="6519765" y="5393413"/>
            <a:ext cx="1400031" cy="647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F3FAD6E-4904-72AB-2D32-6660074E3066}"/>
              </a:ext>
            </a:extLst>
          </p:cNvPr>
          <p:cNvCxnSpPr>
            <a:cxnSpLocks/>
          </p:cNvCxnSpPr>
          <p:nvPr/>
        </p:nvCxnSpPr>
        <p:spPr>
          <a:xfrm>
            <a:off x="7515970" y="6337456"/>
            <a:ext cx="2667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203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1520820384"/>
              </p:ext>
            </p:extLst>
          </p:nvPr>
        </p:nvGraphicFramePr>
        <p:xfrm>
          <a:off x="134006" y="102476"/>
          <a:ext cx="11879325" cy="6644690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</a:t>
                      </a:r>
                      <a:r>
                        <a:rPr lang="ko-KR" alt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구매오더</a:t>
                      </a: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관리 프로그램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트랜잭션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ZRC1MM0005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ABAP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ZRC1MM0005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405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98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</a:t>
                      </a:r>
                      <a:r>
                        <a:rPr lang="ko-KR" altLang="en-US" sz="1200" b="1" i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구매오더</a:t>
                      </a:r>
                      <a:r>
                        <a:rPr lang="ko-KR" altLang="en-US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결재 탭</a:t>
                      </a: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]</a:t>
                      </a:r>
                      <a:endParaRPr lang="en-US" altLang="ko-KR" sz="1200" b="1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상단 상태 카드 </a:t>
                      </a:r>
                      <a:r>
                        <a:rPr lang="en-US" altLang="ko-KR" sz="1200" b="0" dirty="0"/>
                        <a:t>HTML(</a:t>
                      </a:r>
                      <a:r>
                        <a:rPr lang="ko-KR" altLang="en-US" sz="1200" b="0" dirty="0"/>
                        <a:t>전체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결재대기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 err="1"/>
                        <a:t>결재진행중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승인완료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반려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에 상태별 건수 표시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카드 클릭으로 리스트 전환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선택 카드 강조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좌측 통합 </a:t>
                      </a:r>
                      <a:r>
                        <a:rPr lang="en-US" altLang="ko-KR" sz="1200" b="0" dirty="0"/>
                        <a:t>ALV</a:t>
                      </a:r>
                      <a:r>
                        <a:rPr lang="ko-KR" altLang="en-US" sz="1200" b="0" dirty="0"/>
                        <a:t>에 결재 리스트 표시 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ko-KR" altLang="en-US" sz="1200" b="0" dirty="0"/>
                        <a:t>반려 카드일 때만 반려사유 아이콘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결재중</a:t>
                      </a:r>
                      <a:r>
                        <a:rPr lang="ko-KR" altLang="en-US" sz="1200" b="0" dirty="0"/>
                        <a:t> 카드일 때만 결재유형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전결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일반결재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컬럼 동적 노출 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 err="1"/>
                        <a:t>구매오더</a:t>
                      </a:r>
                      <a:r>
                        <a:rPr lang="ko-KR" altLang="en-US" sz="1200" b="0" dirty="0"/>
                        <a:t> 더블클릭 시 우측 상세영역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헤더 </a:t>
                      </a:r>
                      <a:r>
                        <a:rPr lang="en-US" altLang="ko-KR" sz="1200" b="0" dirty="0"/>
                        <a:t>HTML + </a:t>
                      </a:r>
                      <a:r>
                        <a:rPr lang="ko-KR" altLang="en-US" sz="1200" b="0" dirty="0"/>
                        <a:t>품목 </a:t>
                      </a:r>
                      <a:r>
                        <a:rPr lang="en-US" altLang="ko-KR" sz="1200" b="0" dirty="0"/>
                        <a:t>ALV) </a:t>
                      </a:r>
                      <a:r>
                        <a:rPr lang="ko-KR" altLang="en-US" sz="1200" b="0" dirty="0"/>
                        <a:t>펼침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금액 기준 결재유형 자동 분기 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ko-KR" altLang="en-US" sz="1200" b="0" dirty="0"/>
                        <a:t>총액 </a:t>
                      </a:r>
                      <a:r>
                        <a:rPr lang="en-US" altLang="ko-KR" sz="1200" b="0" dirty="0"/>
                        <a:t>1,000</a:t>
                      </a:r>
                      <a:r>
                        <a:rPr lang="ko-KR" altLang="en-US" sz="1200" b="0" dirty="0"/>
                        <a:t>만원 이하 </a:t>
                      </a:r>
                      <a:r>
                        <a:rPr lang="en-US" altLang="ko-KR" sz="1200" b="0" dirty="0"/>
                        <a:t>FT(</a:t>
                      </a:r>
                      <a:r>
                        <a:rPr lang="ko-KR" altLang="en-US" sz="1200" b="0" dirty="0"/>
                        <a:t>전결</a:t>
                      </a:r>
                      <a:r>
                        <a:rPr lang="en-US" altLang="ko-KR" sz="1200" b="0" dirty="0"/>
                        <a:t>), </a:t>
                      </a:r>
                      <a:r>
                        <a:rPr lang="ko-KR" altLang="en-US" sz="1200" b="0" dirty="0"/>
                        <a:t>초과 </a:t>
                      </a:r>
                      <a:r>
                        <a:rPr lang="en-US" altLang="ko-KR" sz="1200" b="0" dirty="0"/>
                        <a:t>PD(</a:t>
                      </a:r>
                      <a:r>
                        <a:rPr lang="ko-KR" altLang="en-US" sz="1200" b="0" dirty="0"/>
                        <a:t>일반결재</a:t>
                      </a:r>
                      <a:r>
                        <a:rPr lang="en-US" altLang="ko-KR" sz="1200" b="0" dirty="0"/>
                        <a:t>), </a:t>
                      </a:r>
                      <a:r>
                        <a:rPr lang="ko-KR" altLang="en-US" sz="1200" b="0" dirty="0" err="1"/>
                        <a:t>재상신</a:t>
                      </a:r>
                      <a:r>
                        <a:rPr lang="ko-KR" altLang="en-US" sz="1200" b="0" dirty="0"/>
                        <a:t> 시 수정 금액 기준 </a:t>
                      </a:r>
                      <a:r>
                        <a:rPr lang="ko-KR" altLang="en-US" sz="1200" b="0" dirty="0" err="1"/>
                        <a:t>재분기</a:t>
                      </a:r>
                      <a:r>
                        <a:rPr lang="ko-KR" altLang="en-US" sz="1200" b="0" dirty="0"/>
                        <a:t> 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결재요청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버튼 클릭 시 헤더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품목 상태 변경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결재이력</a:t>
                      </a:r>
                      <a:r>
                        <a:rPr lang="en-US" altLang="ko-KR" sz="1200" b="0" dirty="0"/>
                        <a:t>(ZTC1MM0027)</a:t>
                      </a:r>
                      <a:r>
                        <a:rPr lang="ko-KR" altLang="en-US" sz="1200" b="0" dirty="0"/>
                        <a:t>에 상신 로그 자동 기록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결재중</a:t>
                      </a:r>
                      <a:r>
                        <a:rPr lang="ko-KR" altLang="en-US" sz="1200" b="0" dirty="0"/>
                        <a:t> 건은 </a:t>
                      </a: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결재현황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버튼으로 </a:t>
                      </a:r>
                      <a:r>
                        <a:rPr lang="en-US" altLang="ko-KR" sz="1200" b="0" dirty="0"/>
                        <a:t>Fiori </a:t>
                      </a:r>
                      <a:r>
                        <a:rPr lang="ko-KR" altLang="en-US" sz="1200" b="0" dirty="0"/>
                        <a:t>결재 승인 앱 연계 이동 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반려 건은 수정 팝업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수량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단가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납기일 편집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총 금액 자동 재계산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 후 </a:t>
                      </a: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 err="1"/>
                        <a:t>재상신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가능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반려사유 아이콘 클릭 시 최신 반려 코멘트 </a:t>
                      </a:r>
                      <a:r>
                        <a:rPr lang="en-US" altLang="ko-KR" sz="1200" b="0" dirty="0"/>
                        <a:t>HTML </a:t>
                      </a:r>
                      <a:r>
                        <a:rPr lang="ko-KR" altLang="en-US" sz="1200" b="0" dirty="0"/>
                        <a:t>팝업 표시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직급 기반 권한 제어 </a:t>
                      </a:r>
                      <a:r>
                        <a:rPr lang="en-US" altLang="ko-KR" sz="1200" b="0" dirty="0"/>
                        <a:t>: HR </a:t>
                      </a:r>
                      <a:r>
                        <a:rPr lang="ko-KR" altLang="en-US" sz="1200" b="0" dirty="0"/>
                        <a:t>마스터 미등록 사용자는 프로그램 진입 차단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결재상신</a:t>
                      </a:r>
                      <a:r>
                        <a:rPr lang="ko-KR" altLang="en-US" sz="1200" b="0" dirty="0"/>
                        <a:t> 가능 직급만 </a:t>
                      </a: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결재요청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버튼 노출 </a:t>
                      </a:r>
                      <a:endParaRPr lang="en-US" altLang="ko-KR" sz="12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r>
                        <a:rPr lang="en-US" altLang="ko-KR" sz="1400" b="1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Table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헤더 테이블 </a:t>
                      </a:r>
                      <a:r>
                        <a:rPr lang="en-US" altLang="ko-KR" sz="1200" dirty="0"/>
                        <a:t>( ZTC1MM0007 )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아이템 테이블 </a:t>
                      </a:r>
                      <a:r>
                        <a:rPr lang="en-US" altLang="ko-KR" sz="1200" dirty="0"/>
                        <a:t>( ZTC1MM0008 )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구매요청 헤더 테이블 </a:t>
                      </a:r>
                      <a:r>
                        <a:rPr lang="en-US" altLang="ko-KR" sz="1200" dirty="0"/>
                        <a:t>( ZTC1MM0025 )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구매요청 아이템 테이블 </a:t>
                      </a:r>
                      <a:r>
                        <a:rPr lang="en-US" altLang="ko-KR" sz="1200" dirty="0"/>
                        <a:t>( ZTC1MM0026 )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구매정보레코드 헤더 테이블 </a:t>
                      </a:r>
                      <a:r>
                        <a:rPr lang="en-US" altLang="ko-KR" sz="1200" dirty="0"/>
                        <a:t>( ZTC1MM0021 )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구매정보레코드 아이템 테이블 </a:t>
                      </a:r>
                      <a:r>
                        <a:rPr lang="en-US" altLang="ko-KR" sz="1200" dirty="0"/>
                        <a:t>( ZTC1MM0022 )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벤더마스터 테이블 </a:t>
                      </a:r>
                      <a:r>
                        <a:rPr lang="en-US" altLang="ko-KR" sz="1200" dirty="0"/>
                        <a:t>( ZTC1MM0012 )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자재마스터 테이블 </a:t>
                      </a:r>
                      <a:r>
                        <a:rPr lang="en-US" altLang="ko-KR" sz="1200" dirty="0"/>
                        <a:t>( ZTC1MM0001 )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결재이력 테이블 </a:t>
                      </a:r>
                      <a:r>
                        <a:rPr lang="en-US" altLang="ko-KR" sz="1200" dirty="0"/>
                        <a:t>( ZTC1MM0027 )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/>
                        <a:t>사원 마스터 테이블 </a:t>
                      </a:r>
                      <a:r>
                        <a:rPr lang="en-US" altLang="ko-KR" sz="1200" b="0" dirty="0"/>
                        <a:t>( ZTC1HR0001 )</a:t>
                      </a: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8" name="Picture 107" descr="178297932087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767" y="1224538"/>
            <a:ext cx="3812720" cy="1938133"/>
          </a:xfrm>
          <a:prstGeom prst="rect">
            <a:avLst/>
          </a:prstGeom>
        </p:spPr>
      </p:pic>
      <p:pic>
        <p:nvPicPr>
          <p:cNvPr id="109" name="Picture 108" descr="1782979337192_image.png"/>
          <p:cNvPicPr>
            <a:picLocks noChangeAspect="1"/>
          </p:cNvPicPr>
          <p:nvPr/>
        </p:nvPicPr>
        <p:blipFill>
          <a:blip r:embed="rId4"/>
          <a:srcRect l="1" r="60148"/>
          <a:stretch/>
        </p:blipFill>
        <p:spPr>
          <a:xfrm>
            <a:off x="9378114" y="1761943"/>
            <a:ext cx="2212290" cy="1400413"/>
          </a:xfrm>
          <a:prstGeom prst="rect">
            <a:avLst/>
          </a:prstGeom>
        </p:spPr>
      </p:pic>
      <p:pic>
        <p:nvPicPr>
          <p:cNvPr id="110" name="Picture 109" descr="1782979382466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9493" y="3349117"/>
            <a:ext cx="4434840" cy="1027756"/>
          </a:xfrm>
          <a:prstGeom prst="rect">
            <a:avLst/>
          </a:prstGeom>
        </p:spPr>
      </p:pic>
      <p:pic>
        <p:nvPicPr>
          <p:cNvPr id="111" name="Picture 110" descr="1782979648394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4055" y="4679011"/>
            <a:ext cx="5229401" cy="738365"/>
          </a:xfrm>
          <a:prstGeom prst="rect">
            <a:avLst/>
          </a:prstGeom>
        </p:spPr>
      </p:pic>
      <p:pic>
        <p:nvPicPr>
          <p:cNvPr id="113" name="Picture 112" descr="1782979656357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9539" y="4881223"/>
            <a:ext cx="1485171" cy="1379893"/>
          </a:xfrm>
          <a:prstGeom prst="rect">
            <a:avLst/>
          </a:prstGeom>
        </p:spPr>
      </p:pic>
      <p:pic>
        <p:nvPicPr>
          <p:cNvPr id="114" name="Picture 113" descr="1782979675388_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301" y="5667183"/>
            <a:ext cx="2176272" cy="683248"/>
          </a:xfrm>
          <a:prstGeom prst="rect">
            <a:avLst/>
          </a:prstGeom>
        </p:spPr>
      </p:pic>
      <p:pic>
        <p:nvPicPr>
          <p:cNvPr id="115" name="Picture 114" descr="1782979356912_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1721" y="4129092"/>
            <a:ext cx="1749044" cy="24778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9AA20F4-BC03-0731-A175-982B30F458D8}"/>
              </a:ext>
            </a:extLst>
          </p:cNvPr>
          <p:cNvSpPr/>
          <p:nvPr/>
        </p:nvSpPr>
        <p:spPr>
          <a:xfrm>
            <a:off x="5311471" y="2003729"/>
            <a:ext cx="3697357" cy="1192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BB608F37-6AE5-F7E1-6C17-B94A8401FC48}"/>
              </a:ext>
            </a:extLst>
          </p:cNvPr>
          <p:cNvSpPr/>
          <p:nvPr/>
        </p:nvSpPr>
        <p:spPr>
          <a:xfrm>
            <a:off x="5218338" y="1843570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7083E6-999D-EC42-4FF2-1AF559ECA65B}"/>
              </a:ext>
            </a:extLst>
          </p:cNvPr>
          <p:cNvSpPr/>
          <p:nvPr/>
        </p:nvSpPr>
        <p:spPr>
          <a:xfrm>
            <a:off x="7087279" y="3483908"/>
            <a:ext cx="2617989" cy="88311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9D032D-69CD-D7A3-BA68-CA6A75636C80}"/>
              </a:ext>
            </a:extLst>
          </p:cNvPr>
          <p:cNvSpPr/>
          <p:nvPr/>
        </p:nvSpPr>
        <p:spPr>
          <a:xfrm>
            <a:off x="9460089" y="1929545"/>
            <a:ext cx="259055" cy="900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7EECF0EB-6B55-0B16-EC10-940D5F450E58}"/>
              </a:ext>
            </a:extLst>
          </p:cNvPr>
          <p:cNvSpPr/>
          <p:nvPr/>
        </p:nvSpPr>
        <p:spPr>
          <a:xfrm>
            <a:off x="9332162" y="1748126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6" name="Google Shape;65;p14">
            <a:extLst>
              <a:ext uri="{FF2B5EF4-FFF2-40B4-BE49-F238E27FC236}">
                <a16:creationId xmlns:a16="http://schemas.microsoft.com/office/drawing/2014/main" id="{2FF740B0-F38F-B8A7-7928-EF931CDE0849}"/>
              </a:ext>
            </a:extLst>
          </p:cNvPr>
          <p:cNvSpPr/>
          <p:nvPr/>
        </p:nvSpPr>
        <p:spPr>
          <a:xfrm>
            <a:off x="6969891" y="3338340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BD100F7-0603-C993-C43D-12B44F4261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198" y="3387465"/>
            <a:ext cx="2213820" cy="59563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3AF82E5-E673-11BB-DA0E-5B19603139F7}"/>
              </a:ext>
            </a:extLst>
          </p:cNvPr>
          <p:cNvSpPr/>
          <p:nvPr/>
        </p:nvSpPr>
        <p:spPr>
          <a:xfrm>
            <a:off x="10738787" y="3559099"/>
            <a:ext cx="333955" cy="42400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Google Shape;65;p14">
            <a:extLst>
              <a:ext uri="{FF2B5EF4-FFF2-40B4-BE49-F238E27FC236}">
                <a16:creationId xmlns:a16="http://schemas.microsoft.com/office/drawing/2014/main" id="{FD6294B9-009E-B0BB-858D-A70DC28CA19E}"/>
              </a:ext>
            </a:extLst>
          </p:cNvPr>
          <p:cNvSpPr/>
          <p:nvPr/>
        </p:nvSpPr>
        <p:spPr>
          <a:xfrm>
            <a:off x="10608554" y="3387465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1E3BA3-8CFE-35D7-EDBF-D0709CA80116}"/>
              </a:ext>
            </a:extLst>
          </p:cNvPr>
          <p:cNvSpPr/>
          <p:nvPr/>
        </p:nvSpPr>
        <p:spPr>
          <a:xfrm>
            <a:off x="9840632" y="3389136"/>
            <a:ext cx="222368" cy="692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4657CA-EC48-D42B-EAD9-BBAC5B25D7BA}"/>
              </a:ext>
            </a:extLst>
          </p:cNvPr>
          <p:cNvSpPr/>
          <p:nvPr/>
        </p:nvSpPr>
        <p:spPr>
          <a:xfrm>
            <a:off x="5380983" y="3475147"/>
            <a:ext cx="221979" cy="844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Google Shape;65;p14">
            <a:extLst>
              <a:ext uri="{FF2B5EF4-FFF2-40B4-BE49-F238E27FC236}">
                <a16:creationId xmlns:a16="http://schemas.microsoft.com/office/drawing/2014/main" id="{FCCCE2AA-25D5-6E34-7092-A63463315E26}"/>
              </a:ext>
            </a:extLst>
          </p:cNvPr>
          <p:cNvSpPr/>
          <p:nvPr/>
        </p:nvSpPr>
        <p:spPr>
          <a:xfrm>
            <a:off x="5228583" y="3313632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4" name="Google Shape;65;p14">
            <a:extLst>
              <a:ext uri="{FF2B5EF4-FFF2-40B4-BE49-F238E27FC236}">
                <a16:creationId xmlns:a16="http://schemas.microsoft.com/office/drawing/2014/main" id="{FEF33F44-70B2-1C4B-F826-B546403043A6}"/>
              </a:ext>
            </a:extLst>
          </p:cNvPr>
          <p:cNvSpPr/>
          <p:nvPr/>
        </p:nvSpPr>
        <p:spPr>
          <a:xfrm>
            <a:off x="9701697" y="3205403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51D349C-6E96-5BEB-32D8-1B2B7EA52E66}"/>
              </a:ext>
            </a:extLst>
          </p:cNvPr>
          <p:cNvCxnSpPr>
            <a:cxnSpLocks/>
          </p:cNvCxnSpPr>
          <p:nvPr/>
        </p:nvCxnSpPr>
        <p:spPr>
          <a:xfrm>
            <a:off x="5599365" y="3517364"/>
            <a:ext cx="4293701" cy="7538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65;p14">
            <a:extLst>
              <a:ext uri="{FF2B5EF4-FFF2-40B4-BE49-F238E27FC236}">
                <a16:creationId xmlns:a16="http://schemas.microsoft.com/office/drawing/2014/main" id="{DFCCF5BC-7534-86C5-EA98-DCB891CF3585}"/>
              </a:ext>
            </a:extLst>
          </p:cNvPr>
          <p:cNvSpPr/>
          <p:nvPr/>
        </p:nvSpPr>
        <p:spPr>
          <a:xfrm>
            <a:off x="5218338" y="4547954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6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A2E358-B9AA-813E-5941-4ED1AB291E9A}"/>
              </a:ext>
            </a:extLst>
          </p:cNvPr>
          <p:cNvSpPr/>
          <p:nvPr/>
        </p:nvSpPr>
        <p:spPr>
          <a:xfrm>
            <a:off x="7345017" y="5033176"/>
            <a:ext cx="174042" cy="3062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02B0B9C-A1DC-BDB3-9B0D-361D41FFD403}"/>
              </a:ext>
            </a:extLst>
          </p:cNvPr>
          <p:cNvSpPr/>
          <p:nvPr/>
        </p:nvSpPr>
        <p:spPr>
          <a:xfrm>
            <a:off x="5631512" y="4842344"/>
            <a:ext cx="170952" cy="874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FF05B6E-476F-B4A3-9891-6A1794869DE3}"/>
              </a:ext>
            </a:extLst>
          </p:cNvPr>
          <p:cNvCxnSpPr>
            <a:cxnSpLocks/>
            <a:endCxn id="112" idx="1"/>
          </p:cNvCxnSpPr>
          <p:nvPr/>
        </p:nvCxnSpPr>
        <p:spPr>
          <a:xfrm>
            <a:off x="5802464" y="4879874"/>
            <a:ext cx="2293788" cy="8822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Picture 111" descr="1782979668088_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2" y="5012153"/>
            <a:ext cx="1399276" cy="1500006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16EE0BB-35A0-6580-9AFB-480C7D4F5497}"/>
              </a:ext>
            </a:extLst>
          </p:cNvPr>
          <p:cNvCxnSpPr>
            <a:cxnSpLocks/>
          </p:cNvCxnSpPr>
          <p:nvPr/>
        </p:nvCxnSpPr>
        <p:spPr>
          <a:xfrm>
            <a:off x="7519059" y="5098735"/>
            <a:ext cx="2300480" cy="875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B23ACC1-1DC7-C795-1C9C-C01EDC571FAF}"/>
              </a:ext>
            </a:extLst>
          </p:cNvPr>
          <p:cNvSpPr/>
          <p:nvPr/>
        </p:nvSpPr>
        <p:spPr>
          <a:xfrm>
            <a:off x="5392307" y="4842344"/>
            <a:ext cx="225290" cy="874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A939C7F-7014-8C50-4D61-02475006025D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5504952" y="4929809"/>
            <a:ext cx="180897" cy="7373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561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3617871031"/>
              </p:ext>
            </p:extLst>
          </p:nvPr>
        </p:nvGraphicFramePr>
        <p:xfrm>
          <a:off x="134006" y="102476"/>
          <a:ext cx="11856561" cy="6675170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411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853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</a:t>
                      </a: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구매정보레코드 관리 프로그램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38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조회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SAPMZC1MM0006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ABAP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ZC1MM0006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32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061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Malgun Gothic"/>
                          <a:sym typeface="Malgun Gothic"/>
                        </a:rPr>
                        <a:t>Description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자재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 err="1"/>
                        <a:t>벤더별</a:t>
                      </a:r>
                      <a:r>
                        <a:rPr lang="ko-KR" altLang="en-US" sz="1200" dirty="0"/>
                        <a:t> 구매 조건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단가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계약기간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최소주문수량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을 관리하는 </a:t>
                      </a:r>
                      <a:r>
                        <a:rPr lang="en-US" altLang="ko-KR" sz="1200" dirty="0"/>
                        <a:t>PIR </a:t>
                      </a:r>
                      <a:r>
                        <a:rPr lang="ko-KR" altLang="en-US" sz="1200" dirty="0"/>
                        <a:t>프로그램으로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단가 이력과 </a:t>
                      </a: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이력을 한 화면에서 조회하고 신규 </a:t>
                      </a:r>
                      <a:r>
                        <a:rPr lang="en-US" altLang="ko-KR" sz="1200" dirty="0"/>
                        <a:t>PIR </a:t>
                      </a:r>
                      <a:r>
                        <a:rPr lang="ko-KR" altLang="en-US" sz="1200" dirty="0"/>
                        <a:t>생성 시 연간계약</a:t>
                      </a:r>
                      <a:r>
                        <a:rPr lang="en-US" altLang="ko-KR" sz="1200" dirty="0"/>
                        <a:t>(ZAPC) </a:t>
                      </a:r>
                      <a:r>
                        <a:rPr lang="ko-KR" altLang="en-US" sz="1200" dirty="0" err="1"/>
                        <a:t>구매오더를</a:t>
                      </a:r>
                      <a:r>
                        <a:rPr lang="ko-KR" altLang="en-US" sz="1200" dirty="0"/>
                        <a:t> 자동 생성</a:t>
                      </a:r>
                      <a:endParaRPr lang="en-US" altLang="ko-KR" sz="12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dirty="0"/>
                        <a:t>좌측 </a:t>
                      </a:r>
                      <a:r>
                        <a:rPr lang="en-US" altLang="ko-KR" sz="1200" dirty="0"/>
                        <a:t>ALV</a:t>
                      </a:r>
                      <a:r>
                        <a:rPr lang="ko-KR" altLang="en-US" sz="1200" dirty="0"/>
                        <a:t>에 </a:t>
                      </a:r>
                      <a:r>
                        <a:rPr lang="en-US" altLang="ko-KR" sz="1200" dirty="0"/>
                        <a:t>PIR </a:t>
                      </a:r>
                      <a:r>
                        <a:rPr lang="ko-KR" altLang="en-US" sz="1200" dirty="0"/>
                        <a:t>목록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자재명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벤더명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현재 유효 단가를 표시하고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계약 상태를 </a:t>
                      </a:r>
                      <a:r>
                        <a:rPr lang="en-US" altLang="ko-KR" sz="1200" dirty="0"/>
                        <a:t>LED</a:t>
                      </a:r>
                      <a:r>
                        <a:rPr lang="ko-KR" altLang="en-US" sz="1200" dirty="0"/>
                        <a:t>와 행색으로 구분하여 </a:t>
                      </a:r>
                      <a:r>
                        <a:rPr lang="ko-KR" altLang="en-US" sz="1200" dirty="0" err="1"/>
                        <a:t>계약중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만료임박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만료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 err="1"/>
                        <a:t>미계약</a:t>
                      </a:r>
                      <a:r>
                        <a:rPr lang="ko-KR" altLang="en-US" sz="1200" dirty="0"/>
                        <a:t> 상태를 한눈에 확인 가능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dirty="0"/>
                        <a:t>정보레코드</a:t>
                      </a:r>
                      <a:r>
                        <a:rPr lang="en-US" altLang="ko-KR" sz="1200" dirty="0"/>
                        <a:t>(INFNR) </a:t>
                      </a:r>
                      <a:r>
                        <a:rPr lang="ko-KR" altLang="en-US" sz="1200" dirty="0"/>
                        <a:t>클릭 시 우측 상세영역에 단가 전체 이력과 해당 </a:t>
                      </a:r>
                      <a:r>
                        <a:rPr lang="en-US" altLang="ko-KR" sz="1200" dirty="0"/>
                        <a:t>PIR</a:t>
                      </a:r>
                      <a:r>
                        <a:rPr lang="ko-KR" altLang="en-US" sz="1200" dirty="0"/>
                        <a:t>로 생성된 일반</a:t>
                      </a:r>
                      <a:r>
                        <a:rPr lang="en-US" altLang="ko-KR" sz="1200" dirty="0"/>
                        <a:t>(NB) </a:t>
                      </a: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이력을 함께 표시하여 계약 조건과 실제 발주 이력을 비교 가능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dirty="0"/>
                        <a:t>미사용</a:t>
                      </a:r>
                      <a:r>
                        <a:rPr lang="en-US" altLang="ko-KR" sz="1200" dirty="0"/>
                        <a:t>(LOEKZ) </a:t>
                      </a:r>
                      <a:r>
                        <a:rPr lang="ko-KR" altLang="en-US" sz="1200" dirty="0"/>
                        <a:t>체크박스 변경 시 </a:t>
                      </a:r>
                      <a:r>
                        <a:rPr lang="en-US" altLang="ko-KR" sz="1200" dirty="0"/>
                        <a:t>PIR </a:t>
                      </a:r>
                      <a:r>
                        <a:rPr lang="ko-KR" altLang="en-US" sz="1200" dirty="0"/>
                        <a:t>헤더와 단가 정보를 즉시 </a:t>
                      </a:r>
                      <a:r>
                        <a:rPr lang="en-US" altLang="ko-KR" sz="1200" dirty="0"/>
                        <a:t>DB</a:t>
                      </a:r>
                      <a:r>
                        <a:rPr lang="ko-KR" altLang="en-US" sz="1200" dirty="0"/>
                        <a:t>에 반영하고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상태 </a:t>
                      </a:r>
                      <a:r>
                        <a:rPr lang="en-US" altLang="ko-KR" sz="1200" dirty="0"/>
                        <a:t>LED</a:t>
                      </a:r>
                      <a:r>
                        <a:rPr lang="ko-KR" altLang="en-US" sz="1200" dirty="0"/>
                        <a:t>와 행색을 자동 재계산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dirty="0"/>
                        <a:t>기존 </a:t>
                      </a:r>
                      <a:r>
                        <a:rPr lang="en-US" altLang="ko-KR" sz="1200" dirty="0"/>
                        <a:t>PIR</a:t>
                      </a:r>
                      <a:r>
                        <a:rPr lang="ko-KR" altLang="en-US" sz="1200" dirty="0"/>
                        <a:t>에는 </a:t>
                      </a: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/>
                        <a:t>단가추가</a:t>
                      </a:r>
                      <a:r>
                        <a:rPr lang="en-US" altLang="ko-KR" sz="1200" dirty="0"/>
                        <a:t>] </a:t>
                      </a:r>
                      <a:r>
                        <a:rPr lang="ko-KR" altLang="en-US" sz="1200" dirty="0"/>
                        <a:t>기능으로 신규 단가 조건을 추가할 수 있으며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저장 시 </a:t>
                      </a:r>
                      <a:r>
                        <a:rPr lang="ko-KR" altLang="en-US" sz="1200" dirty="0" err="1"/>
                        <a:t>필수값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기간 오류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동일 시작일 중복 여부를 검증하여 단가 이력 정합성 확보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/>
                        <a:t>신규</a:t>
                      </a:r>
                      <a:r>
                        <a:rPr lang="en-US" altLang="ko-KR" sz="1200" dirty="0"/>
                        <a:t>] </a:t>
                      </a:r>
                      <a:r>
                        <a:rPr lang="ko-KR" altLang="en-US" sz="1200" dirty="0"/>
                        <a:t>기능으로 자재와 벤더를 선택하면 등록연도 기준 단가 유효기간을 자동 산정하고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벤더 계약기간 이탈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과거연도 입력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자재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/>
                        <a:t>벤더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/>
                        <a:t>기간 중복을 검증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dirty="0"/>
                        <a:t>신규 </a:t>
                      </a:r>
                      <a:r>
                        <a:rPr lang="en-US" altLang="ko-KR" sz="1200" dirty="0"/>
                        <a:t>PIR </a:t>
                      </a:r>
                      <a:r>
                        <a:rPr lang="ko-KR" altLang="en-US" sz="1200" dirty="0"/>
                        <a:t>저장 시 </a:t>
                      </a:r>
                      <a:r>
                        <a:rPr lang="en-US" altLang="ko-KR" sz="1200" dirty="0"/>
                        <a:t>PIR </a:t>
                      </a:r>
                      <a:r>
                        <a:rPr lang="ko-KR" altLang="en-US" sz="1200" dirty="0"/>
                        <a:t>헤더와 계약단가를 생성하고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동시에 </a:t>
                      </a:r>
                      <a:r>
                        <a:rPr lang="en-US" altLang="ko-KR" sz="1200" dirty="0"/>
                        <a:t>ZAPC </a:t>
                      </a:r>
                      <a:r>
                        <a:rPr lang="ko-KR" altLang="en-US" sz="1200" dirty="0"/>
                        <a:t>연간계약 </a:t>
                      </a: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헤더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품목을 자동 생성하여 계약 정보와 연간 발주 계획을 연결</a:t>
                      </a: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Table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구매정보레코드 헤더 테이블 </a:t>
                      </a:r>
                      <a:r>
                        <a:rPr lang="en-US" altLang="ko-KR" sz="1200" dirty="0"/>
                        <a:t>(ZTC1MM0021)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구매정보레코드 가격 테이블 </a:t>
                      </a:r>
                      <a:r>
                        <a:rPr lang="en-US" altLang="ko-KR" sz="1200" dirty="0"/>
                        <a:t>(ZTC1MM0022)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헤더 테이블 </a:t>
                      </a:r>
                      <a:r>
                        <a:rPr lang="en-US" altLang="ko-KR" sz="1200" dirty="0"/>
                        <a:t>(ZTC1MM0007)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품목 테이블 </a:t>
                      </a:r>
                      <a:r>
                        <a:rPr lang="en-US" altLang="ko-KR" sz="1200" dirty="0"/>
                        <a:t>(ZTC1MM0008)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자재마스터 테이블 </a:t>
                      </a:r>
                      <a:r>
                        <a:rPr lang="en-US" altLang="ko-KR" sz="1200" dirty="0"/>
                        <a:t>(ZTC1MM0001)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벤더마스터 테이블 </a:t>
                      </a:r>
                      <a:r>
                        <a:rPr lang="en-US" altLang="ko-KR" sz="1200" dirty="0"/>
                        <a:t>(ZTC1MM0012)</a:t>
                      </a: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8" name="Picture 107" descr="178297972132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927" y="1245171"/>
            <a:ext cx="6599420" cy="336158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9257F73-EDD9-059F-42BD-56F97BFF9160}"/>
              </a:ext>
            </a:extLst>
          </p:cNvPr>
          <p:cNvSpPr/>
          <p:nvPr/>
        </p:nvSpPr>
        <p:spPr>
          <a:xfrm>
            <a:off x="5331350" y="2507823"/>
            <a:ext cx="4154556" cy="1991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F8DB7A-D73E-515F-C689-AC3D299A672E}"/>
              </a:ext>
            </a:extLst>
          </p:cNvPr>
          <p:cNvSpPr/>
          <p:nvPr/>
        </p:nvSpPr>
        <p:spPr>
          <a:xfrm>
            <a:off x="5421359" y="2615040"/>
            <a:ext cx="184311" cy="18641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7C98E8-02C7-1401-F6C5-81ED34933917}"/>
              </a:ext>
            </a:extLst>
          </p:cNvPr>
          <p:cNvSpPr/>
          <p:nvPr/>
        </p:nvSpPr>
        <p:spPr>
          <a:xfrm>
            <a:off x="9164421" y="2615039"/>
            <a:ext cx="236728" cy="18641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Google Shape;65;p14">
            <a:extLst>
              <a:ext uri="{FF2B5EF4-FFF2-40B4-BE49-F238E27FC236}">
                <a16:creationId xmlns:a16="http://schemas.microsoft.com/office/drawing/2014/main" id="{5667F211-D8B7-05AD-2CAD-0A2C466DBD16}"/>
              </a:ext>
            </a:extLst>
          </p:cNvPr>
          <p:cNvSpPr/>
          <p:nvPr/>
        </p:nvSpPr>
        <p:spPr>
          <a:xfrm>
            <a:off x="9024074" y="2469505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9" name="Google Shape;65;p14">
            <a:extLst>
              <a:ext uri="{FF2B5EF4-FFF2-40B4-BE49-F238E27FC236}">
                <a16:creationId xmlns:a16="http://schemas.microsoft.com/office/drawing/2014/main" id="{13B857DB-134F-2472-803B-49F0691EEE76}"/>
              </a:ext>
            </a:extLst>
          </p:cNvPr>
          <p:cNvSpPr/>
          <p:nvPr/>
        </p:nvSpPr>
        <p:spPr>
          <a:xfrm>
            <a:off x="5532573" y="2497379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" name="Google Shape;65;p14">
            <a:extLst>
              <a:ext uri="{FF2B5EF4-FFF2-40B4-BE49-F238E27FC236}">
                <a16:creationId xmlns:a16="http://schemas.microsoft.com/office/drawing/2014/main" id="{F9A132F1-4C9C-2EC5-5BA3-9CCB61A2687C}"/>
              </a:ext>
            </a:extLst>
          </p:cNvPr>
          <p:cNvSpPr/>
          <p:nvPr/>
        </p:nvSpPr>
        <p:spPr>
          <a:xfrm>
            <a:off x="5229043" y="2339192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2" name="Picture 107" descr="1782979752274_image.png">
            <a:extLst>
              <a:ext uri="{FF2B5EF4-FFF2-40B4-BE49-F238E27FC236}">
                <a16:creationId xmlns:a16="http://schemas.microsoft.com/office/drawing/2014/main" id="{D83B6C28-8192-D42D-4C13-C2BAEC4EE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350" y="4836047"/>
            <a:ext cx="6077748" cy="1563692"/>
          </a:xfrm>
          <a:prstGeom prst="rect">
            <a:avLst/>
          </a:prstGeom>
        </p:spPr>
      </p:pic>
      <p:pic>
        <p:nvPicPr>
          <p:cNvPr id="13" name="Picture 108" descr="1782979769605_image.png">
            <a:extLst>
              <a:ext uri="{FF2B5EF4-FFF2-40B4-BE49-F238E27FC236}">
                <a16:creationId xmlns:a16="http://schemas.microsoft.com/office/drawing/2014/main" id="{ACD37286-1484-66F5-A7F9-0C17547B6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518" y="1257481"/>
            <a:ext cx="2254366" cy="237913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CD0E21-4095-3791-851A-7A9AA65657E5}"/>
              </a:ext>
            </a:extLst>
          </p:cNvPr>
          <p:cNvSpPr/>
          <p:nvPr/>
        </p:nvSpPr>
        <p:spPr>
          <a:xfrm flipH="1">
            <a:off x="5935509" y="4821712"/>
            <a:ext cx="497551" cy="1660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A9D30705-EACF-6FED-07DF-580B2062BE9A}"/>
              </a:ext>
            </a:extLst>
          </p:cNvPr>
          <p:cNvSpPr/>
          <p:nvPr/>
        </p:nvSpPr>
        <p:spPr>
          <a:xfrm>
            <a:off x="5796080" y="4698626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06E5F04-13AE-B157-4E95-07A2A291D0F9}"/>
              </a:ext>
            </a:extLst>
          </p:cNvPr>
          <p:cNvCxnSpPr>
            <a:cxnSpLocks/>
          </p:cNvCxnSpPr>
          <p:nvPr/>
        </p:nvCxnSpPr>
        <p:spPr>
          <a:xfrm>
            <a:off x="6184284" y="4981843"/>
            <a:ext cx="87069" cy="3260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9A3E45-5E63-9966-5776-2E13C91844AE}"/>
              </a:ext>
            </a:extLst>
          </p:cNvPr>
          <p:cNvSpPr/>
          <p:nvPr/>
        </p:nvSpPr>
        <p:spPr>
          <a:xfrm flipH="1">
            <a:off x="5509041" y="5306705"/>
            <a:ext cx="5827292" cy="146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21578F-E8FA-40DF-8C21-292CE1337B18}"/>
              </a:ext>
            </a:extLst>
          </p:cNvPr>
          <p:cNvSpPr/>
          <p:nvPr/>
        </p:nvSpPr>
        <p:spPr>
          <a:xfrm flipH="1">
            <a:off x="5564735" y="1534602"/>
            <a:ext cx="255620" cy="1343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Google Shape;65;p14">
            <a:extLst>
              <a:ext uri="{FF2B5EF4-FFF2-40B4-BE49-F238E27FC236}">
                <a16:creationId xmlns:a16="http://schemas.microsoft.com/office/drawing/2014/main" id="{8ED3A918-0C1B-93C0-C7BF-A917C2F439F7}"/>
              </a:ext>
            </a:extLst>
          </p:cNvPr>
          <p:cNvSpPr/>
          <p:nvPr/>
        </p:nvSpPr>
        <p:spPr>
          <a:xfrm>
            <a:off x="5426855" y="1366608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CB802A2-7C97-F07E-3636-4FD8E7991B3C}"/>
              </a:ext>
            </a:extLst>
          </p:cNvPr>
          <p:cNvCxnSpPr>
            <a:cxnSpLocks/>
            <a:stCxn id="22" idx="1"/>
            <a:endCxn id="13" idx="1"/>
          </p:cNvCxnSpPr>
          <p:nvPr/>
        </p:nvCxnSpPr>
        <p:spPr>
          <a:xfrm>
            <a:off x="5820355" y="1601772"/>
            <a:ext cx="3850163" cy="845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50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2937023299"/>
              </p:ext>
            </p:extLst>
          </p:nvPr>
        </p:nvGraphicFramePr>
        <p:xfrm>
          <a:off x="134006" y="102476"/>
          <a:ext cx="11879325" cy="6461810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0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853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</a:t>
                      </a: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송장검증 프로그램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38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조회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ZRC1MM0010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ABAP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ZRC1MM0010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32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061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Malgun Gothic"/>
                          <a:sym typeface="Malgun Gothic"/>
                        </a:rPr>
                        <a:t>Description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기반 송장을 수량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금액 기준으로 검증하고 </a:t>
                      </a:r>
                      <a:r>
                        <a:rPr lang="en-US" altLang="ko-KR" sz="1200" dirty="0"/>
                        <a:t>FI AP </a:t>
                      </a:r>
                      <a:r>
                        <a:rPr lang="ko-KR" altLang="en-US" sz="1200" dirty="0"/>
                        <a:t>전표까지 생성하는 프로그램으로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탭 스트립 기반의 </a:t>
                      </a: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 err="1"/>
                        <a:t>단건</a:t>
                      </a:r>
                      <a:r>
                        <a:rPr lang="ko-KR" altLang="en-US" sz="1200" dirty="0"/>
                        <a:t> 송장검증</a:t>
                      </a:r>
                      <a:r>
                        <a:rPr lang="en-US" altLang="ko-KR" sz="1200" dirty="0"/>
                        <a:t>] / [</a:t>
                      </a:r>
                      <a:r>
                        <a:rPr lang="ko-KR" altLang="en-US" sz="1200" dirty="0"/>
                        <a:t>대량 송장검증</a:t>
                      </a:r>
                      <a:r>
                        <a:rPr lang="en-US" altLang="ko-KR" sz="1200" dirty="0"/>
                        <a:t>] </a:t>
                      </a:r>
                      <a:r>
                        <a:rPr lang="ko-KR" altLang="en-US" sz="1200" dirty="0"/>
                        <a:t>으로 분리 구성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 err="1"/>
                        <a:t>단건은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PO</a:t>
                      </a:r>
                      <a:r>
                        <a:rPr lang="ko-KR" altLang="en-US" sz="1200" dirty="0"/>
                        <a:t>별 송장을 직접 입력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검증하고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대량은 엑셀 업로드 데이터를 송장 단위로 검증하여 정상 건만 저장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전기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</a:t>
                      </a:r>
                      <a:r>
                        <a:rPr lang="ko-KR" altLang="en-US" sz="1200" b="1" i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단건</a:t>
                      </a:r>
                      <a:r>
                        <a:rPr lang="ko-KR" altLang="en-US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송장검증 탭</a:t>
                      </a: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]</a:t>
                      </a:r>
                      <a:endParaRPr lang="ko-KR" altLang="en-US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 err="1"/>
                        <a:t>구매오더</a:t>
                      </a:r>
                      <a:r>
                        <a:rPr lang="ko-KR" altLang="en-US" sz="1200" b="0" dirty="0"/>
                        <a:t> 번호 </a:t>
                      </a:r>
                      <a:r>
                        <a:rPr lang="en-US" altLang="ko-KR" sz="1200" b="0" dirty="0"/>
                        <a:t>Search Help</a:t>
                      </a:r>
                      <a:r>
                        <a:rPr lang="ko-KR" altLang="en-US" sz="1200" b="0" dirty="0"/>
                        <a:t>를 통해 송장검증 대상 </a:t>
                      </a:r>
                      <a:r>
                        <a:rPr lang="en-US" altLang="ko-KR" sz="1200" b="0" dirty="0"/>
                        <a:t>PO</a:t>
                      </a:r>
                      <a:r>
                        <a:rPr lang="ko-KR" altLang="en-US" sz="1200" b="0" dirty="0"/>
                        <a:t>를 조회하고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승인 완료</a:t>
                      </a:r>
                      <a:r>
                        <a:rPr lang="en-US" altLang="ko-KR" sz="1200" b="0" dirty="0"/>
                        <a:t>(AP)</a:t>
                      </a:r>
                      <a:r>
                        <a:rPr lang="ko-KR" altLang="en-US" sz="1200" b="0" dirty="0"/>
                        <a:t>된 </a:t>
                      </a:r>
                      <a:r>
                        <a:rPr lang="ko-KR" altLang="en-US" sz="1200" b="0" dirty="0" err="1"/>
                        <a:t>구매오더만</a:t>
                      </a:r>
                      <a:r>
                        <a:rPr lang="ko-KR" altLang="en-US" sz="1200" b="0" dirty="0"/>
                        <a:t> 송장 품목 조회 및 검증 대상으로 허용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품목별 입고누적</a:t>
                      </a:r>
                      <a:r>
                        <a:rPr lang="en-US" altLang="ko-KR" sz="1200" b="0" dirty="0"/>
                        <a:t>(GR), </a:t>
                      </a:r>
                      <a:r>
                        <a:rPr lang="ko-KR" altLang="en-US" sz="1200" b="0" dirty="0" err="1"/>
                        <a:t>기청구</a:t>
                      </a:r>
                      <a:r>
                        <a:rPr lang="en-US" altLang="ko-KR" sz="1200" b="0" dirty="0"/>
                        <a:t>(IR), </a:t>
                      </a:r>
                      <a:r>
                        <a:rPr lang="ko-KR" altLang="en-US" sz="1200" b="0" dirty="0"/>
                        <a:t>청구가능 잔량을 자동 계산하고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청구가능 잔량이 있는 품목만 송장수량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송장단가 입력 가능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송장수량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단가 입력 시 예상금액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송장금액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차액을 실시간 재계산하고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입력값</a:t>
                      </a:r>
                      <a:r>
                        <a:rPr lang="ko-KR" altLang="en-US" sz="1200" b="0" dirty="0"/>
                        <a:t> 변경 시 검증상태를 초기화하여 저장 전 </a:t>
                      </a:r>
                      <a:r>
                        <a:rPr lang="ko-KR" altLang="en-US" sz="1200" b="0" dirty="0" err="1"/>
                        <a:t>재검증</a:t>
                      </a:r>
                      <a:r>
                        <a:rPr lang="ko-KR" altLang="en-US" sz="1200" b="0" dirty="0"/>
                        <a:t> 강제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검증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클릭 시 청구가능 수량 초과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단가 오차율 </a:t>
                      </a:r>
                      <a:r>
                        <a:rPr lang="en-US" altLang="ko-KR" sz="1200" b="0" dirty="0"/>
                        <a:t>5% </a:t>
                      </a:r>
                      <a:r>
                        <a:rPr lang="ko-KR" altLang="en-US" sz="1200" b="0" dirty="0"/>
                        <a:t>초과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정상 여부를 행별 </a:t>
                      </a:r>
                      <a:r>
                        <a:rPr lang="en-US" altLang="ko-KR" sz="1200" b="0" dirty="0"/>
                        <a:t>LED</a:t>
                      </a:r>
                      <a:r>
                        <a:rPr lang="ko-KR" altLang="en-US" sz="1200" b="0" dirty="0"/>
                        <a:t>로 판정하고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사용자 입력총액과 계산총액의 </a:t>
                      </a:r>
                      <a:r>
                        <a:rPr lang="en-US" altLang="ko-KR" sz="1200" b="0" dirty="0"/>
                        <a:t>Balance </a:t>
                      </a:r>
                      <a:r>
                        <a:rPr lang="ko-KR" altLang="en-US" sz="1200" b="0" dirty="0"/>
                        <a:t>일치 여부를 함께 확인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전기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시 </a:t>
                      </a:r>
                      <a:r>
                        <a:rPr lang="ko-KR" altLang="en-US" sz="1200" b="0" dirty="0" err="1"/>
                        <a:t>미검증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재검증</a:t>
                      </a:r>
                      <a:r>
                        <a:rPr lang="ko-KR" altLang="en-US" sz="1200" b="0" dirty="0"/>
                        <a:t> 누락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실패 품목 존재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외부송장번호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벤더</a:t>
                      </a:r>
                      <a:r>
                        <a:rPr lang="en-US" altLang="ko-KR" sz="1200" b="0" dirty="0"/>
                        <a:t>+</a:t>
                      </a:r>
                      <a:r>
                        <a:rPr lang="ko-KR" altLang="en-US" sz="1200" b="0" dirty="0"/>
                        <a:t>송장번호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중복 여부를 검증하고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정상 송장은 </a:t>
                      </a:r>
                      <a:r>
                        <a:rPr lang="en-US" altLang="ko-KR" sz="1200" b="0" dirty="0"/>
                        <a:t>FI AP </a:t>
                      </a:r>
                      <a:r>
                        <a:rPr lang="ko-KR" altLang="en-US" sz="1200" b="0" dirty="0"/>
                        <a:t>전표를 생성</a:t>
                      </a:r>
                      <a:endParaRPr lang="en-US" altLang="ko-KR" sz="1200" b="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8" name="Picture 107" descr="178297982077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509" y="1312124"/>
            <a:ext cx="6928813" cy="2445168"/>
          </a:xfrm>
          <a:prstGeom prst="rect">
            <a:avLst/>
          </a:prstGeom>
        </p:spPr>
      </p:pic>
      <p:pic>
        <p:nvPicPr>
          <p:cNvPr id="109" name="Picture 108" descr="178297982373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109" y="3879212"/>
            <a:ext cx="4846320" cy="447623"/>
          </a:xfrm>
          <a:prstGeom prst="rect">
            <a:avLst/>
          </a:prstGeom>
        </p:spPr>
      </p:pic>
      <p:pic>
        <p:nvPicPr>
          <p:cNvPr id="110" name="Picture 109" descr="1782979825667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7392" y="3735866"/>
            <a:ext cx="1783080" cy="610985"/>
          </a:xfrm>
          <a:prstGeom prst="rect">
            <a:avLst/>
          </a:prstGeom>
        </p:spPr>
      </p:pic>
      <p:pic>
        <p:nvPicPr>
          <p:cNvPr id="111" name="Picture 110" descr="1782979827532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4109" y="4459634"/>
            <a:ext cx="4846320" cy="459534"/>
          </a:xfrm>
          <a:prstGeom prst="rect">
            <a:avLst/>
          </a:prstGeom>
        </p:spPr>
      </p:pic>
      <p:pic>
        <p:nvPicPr>
          <p:cNvPr id="112" name="Picture 111" descr="1782979829314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7392" y="4499251"/>
            <a:ext cx="1783080" cy="589164"/>
          </a:xfrm>
          <a:prstGeom prst="rect">
            <a:avLst/>
          </a:prstGeom>
        </p:spPr>
      </p:pic>
      <p:pic>
        <p:nvPicPr>
          <p:cNvPr id="113" name="Picture 112" descr="1782979818730_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8889" y="1248510"/>
            <a:ext cx="1783080" cy="1682150"/>
          </a:xfrm>
          <a:prstGeom prst="rect">
            <a:avLst/>
          </a:prstGeom>
        </p:spPr>
      </p:pic>
      <p:pic>
        <p:nvPicPr>
          <p:cNvPr id="114" name="Picture 113" descr="1782979832533_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4109" y="5110741"/>
            <a:ext cx="3063240" cy="1131590"/>
          </a:xfrm>
          <a:prstGeom prst="rect">
            <a:avLst/>
          </a:prstGeom>
        </p:spPr>
      </p:pic>
      <p:pic>
        <p:nvPicPr>
          <p:cNvPr id="115" name="Picture 114" descr="1782979849122_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3429" y="5989937"/>
            <a:ext cx="1508760" cy="25239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EC88C86-6F72-C1FC-C5BE-CAF4F3EDC600}"/>
              </a:ext>
            </a:extLst>
          </p:cNvPr>
          <p:cNvSpPr/>
          <p:nvPr/>
        </p:nvSpPr>
        <p:spPr>
          <a:xfrm>
            <a:off x="5106068" y="3032567"/>
            <a:ext cx="6534641" cy="4884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F39422-37A0-A81B-F7A1-BCBAAB48413D}"/>
              </a:ext>
            </a:extLst>
          </p:cNvPr>
          <p:cNvSpPr/>
          <p:nvPr/>
        </p:nvSpPr>
        <p:spPr>
          <a:xfrm>
            <a:off x="9809921" y="3428999"/>
            <a:ext cx="327471" cy="715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F9C937-9E34-80FE-86B9-2D7ABA7BAD94}"/>
              </a:ext>
            </a:extLst>
          </p:cNvPr>
          <p:cNvSpPr/>
          <p:nvPr/>
        </p:nvSpPr>
        <p:spPr>
          <a:xfrm>
            <a:off x="5343276" y="1626306"/>
            <a:ext cx="222637" cy="11767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AA2180-7791-059B-A458-059AF5E1FC85}"/>
              </a:ext>
            </a:extLst>
          </p:cNvPr>
          <p:cNvSpPr/>
          <p:nvPr/>
        </p:nvSpPr>
        <p:spPr>
          <a:xfrm>
            <a:off x="5113587" y="2069214"/>
            <a:ext cx="897154" cy="1176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FDFD2B2-4BE4-7477-8DE8-B123EB6E8B76}"/>
              </a:ext>
            </a:extLst>
          </p:cNvPr>
          <p:cNvCxnSpPr>
            <a:cxnSpLocks/>
            <a:endCxn id="113" idx="1"/>
          </p:cNvCxnSpPr>
          <p:nvPr/>
        </p:nvCxnSpPr>
        <p:spPr>
          <a:xfrm flipV="1">
            <a:off x="6010741" y="2089585"/>
            <a:ext cx="2998148" cy="222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9F3E4FBD-55AE-E16D-B34B-285D4D2B084D}"/>
              </a:ext>
            </a:extLst>
          </p:cNvPr>
          <p:cNvSpPr/>
          <p:nvPr/>
        </p:nvSpPr>
        <p:spPr>
          <a:xfrm>
            <a:off x="10106245" y="4283543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2" name="Google Shape;65;p14">
            <a:extLst>
              <a:ext uri="{FF2B5EF4-FFF2-40B4-BE49-F238E27FC236}">
                <a16:creationId xmlns:a16="http://schemas.microsoft.com/office/drawing/2014/main" id="{D493387C-1E7D-78F2-ECEB-0ED1C76B3B03}"/>
              </a:ext>
            </a:extLst>
          </p:cNvPr>
          <p:cNvSpPr/>
          <p:nvPr/>
        </p:nvSpPr>
        <p:spPr>
          <a:xfrm>
            <a:off x="5020509" y="4258798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5" name="Google Shape;65;p14">
            <a:extLst>
              <a:ext uri="{FF2B5EF4-FFF2-40B4-BE49-F238E27FC236}">
                <a16:creationId xmlns:a16="http://schemas.microsoft.com/office/drawing/2014/main" id="{D395048D-67E9-2311-0E75-D26021A12760}"/>
              </a:ext>
            </a:extLst>
          </p:cNvPr>
          <p:cNvSpPr/>
          <p:nvPr/>
        </p:nvSpPr>
        <p:spPr>
          <a:xfrm>
            <a:off x="4990271" y="5010446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6" name="Google Shape;65;p14">
            <a:extLst>
              <a:ext uri="{FF2B5EF4-FFF2-40B4-BE49-F238E27FC236}">
                <a16:creationId xmlns:a16="http://schemas.microsoft.com/office/drawing/2014/main" id="{A4F72CC9-C64B-20DA-B4C5-8C2965D2C383}"/>
              </a:ext>
            </a:extLst>
          </p:cNvPr>
          <p:cNvSpPr/>
          <p:nvPr/>
        </p:nvSpPr>
        <p:spPr>
          <a:xfrm>
            <a:off x="5000351" y="1899853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1132A601-AB38-710B-E3CD-8E5D83AFCA63}"/>
              </a:ext>
            </a:extLst>
          </p:cNvPr>
          <p:cNvSpPr/>
          <p:nvPr/>
        </p:nvSpPr>
        <p:spPr>
          <a:xfrm>
            <a:off x="4990271" y="2991764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81AC3C2-2131-8B95-13E5-36AC1942704F}"/>
              </a:ext>
            </a:extLst>
          </p:cNvPr>
          <p:cNvSpPr/>
          <p:nvPr/>
        </p:nvSpPr>
        <p:spPr>
          <a:xfrm>
            <a:off x="5596151" y="1626306"/>
            <a:ext cx="222637" cy="11767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A017193-3642-6F38-BC2E-A7EB3A4A1508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flipH="1">
            <a:off x="5126227" y="1743985"/>
            <a:ext cx="328368" cy="2514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65;p14">
            <a:extLst>
              <a:ext uri="{FF2B5EF4-FFF2-40B4-BE49-F238E27FC236}">
                <a16:creationId xmlns:a16="http://schemas.microsoft.com/office/drawing/2014/main" id="{F7BFB397-E876-BFB1-8C0E-8164E6313611}"/>
              </a:ext>
            </a:extLst>
          </p:cNvPr>
          <p:cNvSpPr/>
          <p:nvPr/>
        </p:nvSpPr>
        <p:spPr>
          <a:xfrm>
            <a:off x="10100753" y="3304860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ECFA9C0-EAC8-0C52-973C-BB2F874FDF87}"/>
              </a:ext>
            </a:extLst>
          </p:cNvPr>
          <p:cNvCxnSpPr>
            <a:cxnSpLocks/>
          </p:cNvCxnSpPr>
          <p:nvPr/>
        </p:nvCxnSpPr>
        <p:spPr>
          <a:xfrm>
            <a:off x="5718601" y="1753248"/>
            <a:ext cx="375966" cy="33574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D26A036-50B5-45BF-4D07-10246CF746DD}"/>
              </a:ext>
            </a:extLst>
          </p:cNvPr>
          <p:cNvCxnSpPr>
            <a:cxnSpLocks/>
            <a:endCxn id="115" idx="1"/>
          </p:cNvCxnSpPr>
          <p:nvPr/>
        </p:nvCxnSpPr>
        <p:spPr>
          <a:xfrm>
            <a:off x="8092169" y="5826371"/>
            <a:ext cx="711260" cy="2897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99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2916429670"/>
              </p:ext>
            </p:extLst>
          </p:nvPr>
        </p:nvGraphicFramePr>
        <p:xfrm>
          <a:off x="134006" y="102476"/>
          <a:ext cx="11879325" cy="6644690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853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</a:t>
                      </a: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송장검증 프로그램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38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조회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ZRC1MM0010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ABAP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ZRC1MM0010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32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061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</a:t>
                      </a:r>
                      <a:r>
                        <a:rPr lang="ko-KR" altLang="en-US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대량 송장검증 탭</a:t>
                      </a:r>
                      <a:r>
                        <a:rPr lang="en-US" altLang="ko-KR" sz="1200" b="1" i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]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ko-KR" altLang="en-US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양식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버튼 클릭하여 </a:t>
                      </a:r>
                      <a:r>
                        <a:rPr lang="en-US" altLang="ko-KR" sz="1200" b="0" dirty="0"/>
                        <a:t>SMW0 </a:t>
                      </a:r>
                      <a:r>
                        <a:rPr lang="ko-KR" altLang="en-US" sz="1200" b="0" dirty="0"/>
                        <a:t>엑셀 템플릿을 </a:t>
                      </a:r>
                      <a:r>
                        <a:rPr lang="ko-KR" altLang="en-US" sz="1200" b="0" dirty="0" err="1"/>
                        <a:t>내려받고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엑셀 업로드를 통해 여러 송장 데이터를 </a:t>
                      </a:r>
                      <a:r>
                        <a:rPr lang="en-US" altLang="ko-KR" sz="1200" b="0" dirty="0"/>
                        <a:t>ALV</a:t>
                      </a:r>
                      <a:r>
                        <a:rPr lang="ko-KR" altLang="en-US" sz="1200" b="0" dirty="0"/>
                        <a:t>에 일괄 적재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업로드 데이터는 </a:t>
                      </a: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검증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버튼에서 </a:t>
                      </a:r>
                      <a:r>
                        <a:rPr lang="ko-KR" altLang="en-US" sz="1200" b="0" dirty="0" err="1"/>
                        <a:t>필수값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파일 내 중복</a:t>
                      </a:r>
                      <a:r>
                        <a:rPr lang="en-US" altLang="ko-KR" sz="1200" b="0" dirty="0"/>
                        <a:t>, DB </a:t>
                      </a:r>
                      <a:r>
                        <a:rPr lang="ko-KR" altLang="en-US" sz="1200" b="0" dirty="0" err="1"/>
                        <a:t>기처리</a:t>
                      </a:r>
                      <a:r>
                        <a:rPr lang="ko-KR" altLang="en-US" sz="1200" b="0" dirty="0"/>
                        <a:t> 중복</a:t>
                      </a:r>
                      <a:r>
                        <a:rPr lang="en-US" altLang="ko-KR" sz="1200" b="0" dirty="0"/>
                        <a:t>, PO </a:t>
                      </a:r>
                      <a:r>
                        <a:rPr lang="ko-KR" altLang="en-US" sz="1200" b="0" dirty="0"/>
                        <a:t>품목 존재</a:t>
                      </a:r>
                      <a:r>
                        <a:rPr lang="en-US" altLang="ko-KR" sz="1200" b="0" dirty="0"/>
                        <a:t>, PO </a:t>
                      </a:r>
                      <a:r>
                        <a:rPr lang="ko-KR" altLang="en-US" sz="1200" b="0" dirty="0"/>
                        <a:t>승인상태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벤더 일치</a:t>
                      </a:r>
                      <a:r>
                        <a:rPr lang="en-US" altLang="ko-KR" sz="1200" b="0" dirty="0"/>
                        <a:t>, GR·</a:t>
                      </a:r>
                      <a:r>
                        <a:rPr lang="ko-KR" altLang="en-US" sz="1200" b="0" dirty="0"/>
                        <a:t>청구가능 잔량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수량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금액 오차 순으로 검증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송장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벤더</a:t>
                      </a:r>
                      <a:r>
                        <a:rPr lang="en-US" altLang="ko-KR" sz="1200" b="0" dirty="0"/>
                        <a:t>+</a:t>
                      </a:r>
                      <a:r>
                        <a:rPr lang="ko-KR" altLang="en-US" sz="1200" b="0" dirty="0"/>
                        <a:t>송장번호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단위 </a:t>
                      </a:r>
                      <a:r>
                        <a:rPr lang="en-US" altLang="ko-KR" sz="1200" b="0" dirty="0"/>
                        <a:t>Roll-up </a:t>
                      </a:r>
                      <a:r>
                        <a:rPr lang="ko-KR" altLang="en-US" sz="1200" b="0" dirty="0"/>
                        <a:t>검증을 수행하여 한 품목이라도 실패 또는 보류가 있으면 해당 송장 전체를 전기 대상에서 제외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전기예정금액은 실제 전기 대상인 정상 송장 품목만 반영하여 </a:t>
                      </a:r>
                      <a:r>
                        <a:rPr lang="en-US" altLang="ko-KR" sz="1200" b="0" dirty="0"/>
                        <a:t>ALV </a:t>
                      </a:r>
                      <a:r>
                        <a:rPr lang="ko-KR" altLang="en-US" sz="1200" b="0" dirty="0"/>
                        <a:t>합계와 실제 </a:t>
                      </a:r>
                      <a:r>
                        <a:rPr lang="en-US" altLang="ko-KR" sz="1200" b="0" dirty="0"/>
                        <a:t>FI </a:t>
                      </a:r>
                      <a:r>
                        <a:rPr lang="ko-KR" altLang="en-US" sz="1200" b="0" dirty="0"/>
                        <a:t>전기 금액이 일치하도록 처리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전기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시 송장 전체가 정상인 건만 송장 단위로 헤더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품목</a:t>
                      </a:r>
                      <a:r>
                        <a:rPr lang="en-US" altLang="ko-KR" sz="1200" b="0" dirty="0"/>
                        <a:t>·IR </a:t>
                      </a:r>
                      <a:r>
                        <a:rPr lang="ko-KR" altLang="en-US" sz="1200" b="0" dirty="0"/>
                        <a:t>이력을 저장하고 </a:t>
                      </a:r>
                      <a:r>
                        <a:rPr lang="en-US" altLang="ko-KR" sz="1200" b="0" dirty="0"/>
                        <a:t>FI AP </a:t>
                      </a:r>
                      <a:r>
                        <a:rPr lang="ko-KR" altLang="en-US" sz="1200" b="0" dirty="0"/>
                        <a:t>전표를 생성하며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중간 오류 발생 시 </a:t>
                      </a:r>
                      <a:r>
                        <a:rPr lang="en-US" altLang="ko-KR" sz="1200" b="0" dirty="0"/>
                        <a:t>ROLLBACK </a:t>
                      </a:r>
                      <a:r>
                        <a:rPr lang="ko-KR" altLang="en-US" sz="1200" b="0" dirty="0"/>
                        <a:t>처리하여 </a:t>
                      </a:r>
                      <a:r>
                        <a:rPr lang="en-US" altLang="ko-KR" sz="1200" b="0" dirty="0"/>
                        <a:t>MM-FI </a:t>
                      </a:r>
                      <a:r>
                        <a:rPr lang="ko-KR" altLang="en-US" sz="1200" b="0" dirty="0"/>
                        <a:t>정합성 확보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12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2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200" dirty="0"/>
                    </a:p>
                    <a:p>
                      <a:r>
                        <a:rPr lang="en-US" altLang="ko-KR" sz="1400" b="1" dirty="0"/>
                        <a:t>Table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송장 헤더 테이블 </a:t>
                      </a:r>
                      <a:r>
                        <a:rPr lang="en-US" altLang="ko-KR" sz="1200" dirty="0"/>
                        <a:t>(ZTC1MM0017)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송장 아이템 테이블 </a:t>
                      </a:r>
                      <a:r>
                        <a:rPr lang="en-US" altLang="ko-KR" sz="1200" dirty="0"/>
                        <a:t>(ZTC1MM0018)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입고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송장 이력 테이블 </a:t>
                      </a:r>
                      <a:r>
                        <a:rPr lang="en-US" altLang="ko-KR" sz="1200" dirty="0"/>
                        <a:t>(ZTC1MM0011)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헤더 테이블 </a:t>
                      </a:r>
                      <a:r>
                        <a:rPr lang="en-US" altLang="ko-KR" sz="1200" dirty="0"/>
                        <a:t>(ZTC1MM0007)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구매오더</a:t>
                      </a:r>
                      <a:r>
                        <a:rPr lang="ko-KR" altLang="en-US" sz="1200" dirty="0"/>
                        <a:t> 아이템 테이블 </a:t>
                      </a:r>
                      <a:r>
                        <a:rPr lang="en-US" altLang="ko-KR" sz="1200" dirty="0"/>
                        <a:t>(ZTC1MM0008)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자재마스터 테이블 </a:t>
                      </a:r>
                      <a:r>
                        <a:rPr lang="en-US" altLang="ko-KR" sz="1200" dirty="0"/>
                        <a:t>(ZTC1MM0001)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벤더마스터 테이블 </a:t>
                      </a:r>
                      <a:r>
                        <a:rPr lang="en-US" altLang="ko-KR" sz="1200" dirty="0"/>
                        <a:t>(ZTC1MM0012)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FI </a:t>
                      </a:r>
                      <a:r>
                        <a:rPr lang="ko-KR" altLang="en-US" sz="1200" dirty="0"/>
                        <a:t>회계전표 헤더 테이블 </a:t>
                      </a:r>
                      <a:r>
                        <a:rPr lang="en-US" altLang="ko-KR" sz="1200" dirty="0"/>
                        <a:t>(ZTC1FI0006)</a:t>
                      </a:r>
                      <a:endParaRPr lang="ko-KR" altLang="en-US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en-US" altLang="ko-KR" sz="1200" b="0" i="0" u="none" strike="noStrike" cap="none" dirty="0">
                        <a:solidFill>
                          <a:schemeClr val="dk1"/>
                        </a:solidFill>
                        <a:latin typeface="+mj-ea"/>
                        <a:ea typeface="맑은 고딕"/>
                        <a:cs typeface="맑은 고딕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0" name="Picture 109" descr="178297983581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468" y="1332909"/>
            <a:ext cx="5160687" cy="2358504"/>
          </a:xfrm>
          <a:prstGeom prst="rect">
            <a:avLst/>
          </a:prstGeom>
        </p:spPr>
      </p:pic>
      <p:pic>
        <p:nvPicPr>
          <p:cNvPr id="111" name="Picture 110" descr="1782979846257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091" y="5799122"/>
            <a:ext cx="2267712" cy="792204"/>
          </a:xfrm>
          <a:prstGeom prst="rect">
            <a:avLst/>
          </a:prstGeom>
        </p:spPr>
      </p:pic>
      <p:pic>
        <p:nvPicPr>
          <p:cNvPr id="112" name="Picture 111" descr="1782979849122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1795" y="6300690"/>
            <a:ext cx="1737360" cy="290636"/>
          </a:xfrm>
          <a:prstGeom prst="rect">
            <a:avLst/>
          </a:prstGeom>
        </p:spPr>
      </p:pic>
      <p:pic>
        <p:nvPicPr>
          <p:cNvPr id="113" name="Picture 112" descr="1782979840696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8468" y="3874867"/>
            <a:ext cx="6748272" cy="1820892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373786" y="4793192"/>
            <a:ext cx="920997" cy="260723"/>
          </a:xfrm>
          <a:prstGeom prst="rect">
            <a:avLst/>
          </a:prstGeom>
          <a:noFill/>
          <a:ln w="22225">
            <a:solidFill>
              <a:srgbClr val="E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B316A4-C508-0FB7-7DD1-88C4159CC41B}"/>
              </a:ext>
            </a:extLst>
          </p:cNvPr>
          <p:cNvSpPr/>
          <p:nvPr/>
        </p:nvSpPr>
        <p:spPr>
          <a:xfrm>
            <a:off x="5343047" y="2592476"/>
            <a:ext cx="4997988" cy="106080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4EA958-7271-C596-8AB9-0874D1D7873E}"/>
              </a:ext>
            </a:extLst>
          </p:cNvPr>
          <p:cNvSpPr/>
          <p:nvPr/>
        </p:nvSpPr>
        <p:spPr>
          <a:xfrm>
            <a:off x="11444578" y="5547217"/>
            <a:ext cx="535388" cy="962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57066D-C80D-4235-985E-461CFC98481F}"/>
              </a:ext>
            </a:extLst>
          </p:cNvPr>
          <p:cNvSpPr/>
          <p:nvPr/>
        </p:nvSpPr>
        <p:spPr>
          <a:xfrm>
            <a:off x="5316899" y="1612753"/>
            <a:ext cx="211437" cy="10274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Google Shape;65;p14">
            <a:extLst>
              <a:ext uri="{FF2B5EF4-FFF2-40B4-BE49-F238E27FC236}">
                <a16:creationId xmlns:a16="http://schemas.microsoft.com/office/drawing/2014/main" id="{9B5DDF6D-1087-C80E-36C3-8868459428A5}"/>
              </a:ext>
            </a:extLst>
          </p:cNvPr>
          <p:cNvSpPr/>
          <p:nvPr/>
        </p:nvSpPr>
        <p:spPr>
          <a:xfrm>
            <a:off x="5837373" y="5684471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" name="Google Shape;65;p14">
            <a:extLst>
              <a:ext uri="{FF2B5EF4-FFF2-40B4-BE49-F238E27FC236}">
                <a16:creationId xmlns:a16="http://schemas.microsoft.com/office/drawing/2014/main" id="{639BC037-5214-983D-4FC0-469E24204AFD}"/>
              </a:ext>
            </a:extLst>
          </p:cNvPr>
          <p:cNvSpPr/>
          <p:nvPr/>
        </p:nvSpPr>
        <p:spPr>
          <a:xfrm>
            <a:off x="5204285" y="1432959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08" name="Picture 107" descr="1782979838008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4801" y="1214570"/>
            <a:ext cx="4297680" cy="711126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13A79F4-D089-083E-851C-E20192E0C493}"/>
              </a:ext>
            </a:extLst>
          </p:cNvPr>
          <p:cNvCxnSpPr>
            <a:cxnSpLocks/>
          </p:cNvCxnSpPr>
          <p:nvPr/>
        </p:nvCxnSpPr>
        <p:spPr>
          <a:xfrm flipV="1">
            <a:off x="5534522" y="1325482"/>
            <a:ext cx="1730279" cy="341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5;p14">
            <a:extLst>
              <a:ext uri="{FF2B5EF4-FFF2-40B4-BE49-F238E27FC236}">
                <a16:creationId xmlns:a16="http://schemas.microsoft.com/office/drawing/2014/main" id="{AD8294CC-B0EA-FAFF-A7CC-AF29981CED80}"/>
              </a:ext>
            </a:extLst>
          </p:cNvPr>
          <p:cNvSpPr/>
          <p:nvPr/>
        </p:nvSpPr>
        <p:spPr>
          <a:xfrm>
            <a:off x="5240275" y="2451900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4" name="Google Shape;65;p14">
            <a:extLst>
              <a:ext uri="{FF2B5EF4-FFF2-40B4-BE49-F238E27FC236}">
                <a16:creationId xmlns:a16="http://schemas.microsoft.com/office/drawing/2014/main" id="{CAA886DD-2D69-6014-1481-0694E9AE708F}"/>
              </a:ext>
            </a:extLst>
          </p:cNvPr>
          <p:cNvSpPr/>
          <p:nvPr/>
        </p:nvSpPr>
        <p:spPr>
          <a:xfrm>
            <a:off x="5235730" y="4649854"/>
            <a:ext cx="211436" cy="1884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3" name="Rectangle 119">
            <a:extLst>
              <a:ext uri="{FF2B5EF4-FFF2-40B4-BE49-F238E27FC236}">
                <a16:creationId xmlns:a16="http://schemas.microsoft.com/office/drawing/2014/main" id="{675DA9A5-3DE7-DD1B-077F-0C3B9DF1204C}"/>
              </a:ext>
            </a:extLst>
          </p:cNvPr>
          <p:cNvSpPr/>
          <p:nvPr/>
        </p:nvSpPr>
        <p:spPr>
          <a:xfrm>
            <a:off x="5373786" y="5241777"/>
            <a:ext cx="920997" cy="260723"/>
          </a:xfrm>
          <a:prstGeom prst="rect">
            <a:avLst/>
          </a:prstGeom>
          <a:noFill/>
          <a:ln w="22225">
            <a:solidFill>
              <a:srgbClr val="E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Google Shape;65;p14">
            <a:extLst>
              <a:ext uri="{FF2B5EF4-FFF2-40B4-BE49-F238E27FC236}">
                <a16:creationId xmlns:a16="http://schemas.microsoft.com/office/drawing/2014/main" id="{1553B87C-7A95-D3F3-AEB6-12D8D32F1A19}"/>
              </a:ext>
            </a:extLst>
          </p:cNvPr>
          <p:cNvSpPr/>
          <p:nvPr/>
        </p:nvSpPr>
        <p:spPr>
          <a:xfrm>
            <a:off x="11306522" y="5387035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07B7B7-6B63-CBDD-6D77-03BCC8663E6B}"/>
              </a:ext>
            </a:extLst>
          </p:cNvPr>
          <p:cNvSpPr/>
          <p:nvPr/>
        </p:nvSpPr>
        <p:spPr>
          <a:xfrm>
            <a:off x="5804390" y="1614368"/>
            <a:ext cx="211437" cy="10274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80BF8A7-9141-D011-21D7-5778E99BBA29}"/>
              </a:ext>
            </a:extLst>
          </p:cNvPr>
          <p:cNvCxnSpPr>
            <a:cxnSpLocks/>
            <a:endCxn id="111" idx="0"/>
          </p:cNvCxnSpPr>
          <p:nvPr/>
        </p:nvCxnSpPr>
        <p:spPr>
          <a:xfrm>
            <a:off x="5936500" y="1715494"/>
            <a:ext cx="1140447" cy="40836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DD514EC-9513-2A5E-A682-3B11043426F3}"/>
              </a:ext>
            </a:extLst>
          </p:cNvPr>
          <p:cNvCxnSpPr>
            <a:cxnSpLocks/>
            <a:endCxn id="112" idx="1"/>
          </p:cNvCxnSpPr>
          <p:nvPr/>
        </p:nvCxnSpPr>
        <p:spPr>
          <a:xfrm flipV="1">
            <a:off x="8210803" y="6446008"/>
            <a:ext cx="470992" cy="33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16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3961334570"/>
              </p:ext>
            </p:extLst>
          </p:nvPr>
        </p:nvGraphicFramePr>
        <p:xfrm>
          <a:off x="134006" y="102476"/>
          <a:ext cx="11879325" cy="6625347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구매오더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결재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(Fiori)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트랜잭션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c1_mm_po_appr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UI5 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405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98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Malgun Gothic"/>
                          <a:sym typeface="Malgun Gothic"/>
                        </a:rPr>
                        <a:t>Description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조회조건 </a:t>
                      </a:r>
                      <a:r>
                        <a:rPr lang="en-US" altLang="ko-KR" sz="1200" b="0" dirty="0"/>
                        <a:t>+ KPI </a:t>
                      </a:r>
                      <a:r>
                        <a:rPr lang="ko-KR" altLang="en-US" sz="1200" b="0" dirty="0"/>
                        <a:t>알약 필터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전체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결재대기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승인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반려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 </a:t>
                      </a:r>
                      <a:br>
                        <a:rPr lang="en-US" altLang="ko-KR" sz="1200" b="0" dirty="0"/>
                      </a:br>
                      <a:r>
                        <a:rPr lang="ko-KR" altLang="en-US" sz="1200" b="0" dirty="0"/>
                        <a:t>상태별 건수와 금액 합계를 동시 표시하고 클릭 시 리스트 전환 </a:t>
                      </a:r>
                      <a:endParaRPr lang="en-US" altLang="ko-KR" sz="1200" b="0" dirty="0"/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결재대기 건 다중 선택 </a:t>
                      </a:r>
                      <a:br>
                        <a:rPr lang="en-US" altLang="ko-KR" sz="1200" b="0" dirty="0"/>
                      </a:br>
                      <a:r>
                        <a:rPr lang="ko-KR" altLang="en-US" sz="1200" b="0" dirty="0"/>
                        <a:t>→ 일괄 승인 지원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권한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상태 조건을 통과한 행만 선택 가능</a:t>
                      </a:r>
                      <a:r>
                        <a:rPr lang="en-US" altLang="ko-KR" sz="1200" b="0" dirty="0"/>
                        <a:t>) 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상세 영역을</a:t>
                      </a:r>
                      <a:r>
                        <a:rPr lang="en-US" altLang="ko-KR" sz="1200" b="0" dirty="0"/>
                        <a:t> 4</a:t>
                      </a:r>
                      <a:r>
                        <a:rPr lang="ko-KR" altLang="en-US" sz="1200" b="0" dirty="0"/>
                        <a:t>탭으로 구성 </a:t>
                      </a:r>
                      <a:r>
                        <a:rPr lang="en-US" altLang="ko-KR" sz="1200" b="0" dirty="0"/>
                        <a:t> </a:t>
                      </a:r>
                      <a:br>
                        <a:rPr lang="en-US" altLang="ko-KR" sz="1200" b="0" dirty="0"/>
                      </a:br>
                      <a:r>
                        <a:rPr lang="ko-KR" altLang="en-US" sz="1200" b="0" dirty="0"/>
                        <a:t>개요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구매사유 카드 </a:t>
                      </a:r>
                      <a:r>
                        <a:rPr lang="en-US" altLang="ko-KR" sz="1200" b="0" dirty="0"/>
                        <a:t>+ MRP </a:t>
                      </a:r>
                      <a:r>
                        <a:rPr lang="ko-KR" altLang="en-US" sz="1200" b="0" dirty="0"/>
                        <a:t>자재부족 근거 품목</a:t>
                      </a:r>
                      <a:r>
                        <a:rPr lang="en-US" altLang="ko-KR" sz="1200" b="0" dirty="0"/>
                        <a:t>), </a:t>
                      </a:r>
                      <a:r>
                        <a:rPr lang="ko-KR" altLang="en-US" sz="1200" b="0" dirty="0"/>
                        <a:t>품목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총 발주금액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 err="1"/>
                        <a:t>품목수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최단 납기 요약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품목 검색</a:t>
                      </a:r>
                      <a:r>
                        <a:rPr lang="en-US" altLang="ko-KR" sz="1200" b="0" dirty="0"/>
                        <a:t>), </a:t>
                      </a:r>
                      <a:r>
                        <a:rPr lang="ko-KR" altLang="en-US" sz="1200" b="0" dirty="0"/>
                        <a:t>결재이력</a:t>
                      </a:r>
                      <a:r>
                        <a:rPr lang="en-US" altLang="ko-KR" sz="1200" b="0" dirty="0"/>
                        <a:t>, PDF</a:t>
                      </a:r>
                      <a:r>
                        <a:rPr lang="ko-KR" altLang="en-US" sz="1200" b="0" dirty="0"/>
                        <a:t> </a:t>
                      </a:r>
                      <a:endParaRPr lang="en-US" altLang="ko-KR" sz="1200" b="0" dirty="0"/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결재이력 탭에 결재라인별 직인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도장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이미지 렌더링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결재 의견 타임라인 표시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결재서 </a:t>
                      </a:r>
                      <a:r>
                        <a:rPr lang="en-US" altLang="ko-KR" sz="1200" b="0" dirty="0"/>
                        <a:t>PDF </a:t>
                      </a:r>
                      <a:r>
                        <a:rPr lang="ko-KR" altLang="en-US" sz="1200" b="0" dirty="0"/>
                        <a:t>미리보기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인쇄 </a:t>
                      </a:r>
                      <a:r>
                        <a:rPr lang="en-US" altLang="ko-KR" sz="1200" b="0" dirty="0"/>
                        <a:t>— </a:t>
                      </a:r>
                      <a:r>
                        <a:rPr lang="ko-KR" altLang="en-US" sz="1200" b="0" dirty="0"/>
                        <a:t>승인 이력과 품목 금액 기준으로 출력용 문서 자동 생성 </a:t>
                      </a:r>
                      <a:endParaRPr lang="en-US" altLang="ko-KR" sz="1200" b="0" dirty="0"/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200" b="0" dirty="0"/>
                        <a:t>반려 시 사전 정의 사유 선택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기타 직접 입력 다이얼로그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승인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반려는 </a:t>
                      </a:r>
                      <a:r>
                        <a:rPr lang="en-US" altLang="ko-KR" sz="1200" b="0" dirty="0"/>
                        <a:t>OData Function Import </a:t>
                      </a:r>
                      <a:r>
                        <a:rPr lang="ko-KR" altLang="en-US" sz="1200" b="0" dirty="0"/>
                        <a:t>호출 후 리스트</a:t>
                      </a:r>
                      <a:r>
                        <a:rPr lang="en-US" altLang="ko-KR" sz="1200" b="0" dirty="0"/>
                        <a:t>·</a:t>
                      </a:r>
                      <a:r>
                        <a:rPr lang="ko-KR" altLang="en-US" sz="1200" b="0" dirty="0"/>
                        <a:t>상세</a:t>
                      </a:r>
                      <a:r>
                        <a:rPr lang="en-US" altLang="ko-KR" sz="1200" b="0" dirty="0"/>
                        <a:t>·KPI </a:t>
                      </a:r>
                      <a:r>
                        <a:rPr lang="ko-KR" altLang="en-US" sz="1200" b="0" dirty="0"/>
                        <a:t>자동 갱신 </a:t>
                      </a:r>
                      <a:endParaRPr lang="en-US" altLang="ko-KR" sz="1200" b="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dirty="0"/>
                        <a:t>직급 기반 결재 권한 제어 </a:t>
                      </a:r>
                      <a:br>
                        <a:rPr lang="en-US" altLang="ko-KR" sz="1200" b="0" dirty="0"/>
                      </a:br>
                      <a:r>
                        <a:rPr lang="ko-KR" altLang="en-US" sz="1200" b="0" dirty="0"/>
                        <a:t>전결</a:t>
                      </a:r>
                      <a:r>
                        <a:rPr lang="en-US" altLang="ko-KR" sz="1200" b="0" dirty="0"/>
                        <a:t>(FT)</a:t>
                      </a:r>
                      <a:r>
                        <a:rPr lang="ko-KR" altLang="en-US" sz="1200" b="0" dirty="0"/>
                        <a:t>은 차장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책임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부장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일반결재</a:t>
                      </a:r>
                      <a:r>
                        <a:rPr lang="en-US" altLang="ko-KR" sz="1200" b="0" dirty="0"/>
                        <a:t>(PD)</a:t>
                      </a:r>
                      <a:r>
                        <a:rPr lang="ko-KR" altLang="en-US" sz="1200" b="0" dirty="0"/>
                        <a:t>는 부장만 승인 가능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권한 없는 건은 체크박스 자체를 비활성화해 원천 차단 </a:t>
                      </a:r>
                      <a:endParaRPr lang="en-US" altLang="ko-KR" sz="1200" b="0" dirty="0"/>
                    </a:p>
                    <a:p>
                      <a:pPr>
                        <a:spcAft>
                          <a:spcPts val="300"/>
                        </a:spcAft>
                      </a:pPr>
                      <a:endParaRPr lang="en-US" altLang="ko-KR" sz="1400" b="1" dirty="0">
                        <a:solidFill>
                          <a:srgbClr val="1F3446"/>
                        </a:solidFill>
                        <a:latin typeface="맑은 고딕"/>
                      </a:endParaRP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ko-KR" sz="1400" b="1" dirty="0">
                          <a:solidFill>
                            <a:srgbClr val="1F3446"/>
                          </a:solidFill>
                          <a:latin typeface="맑은 고딕"/>
                        </a:rPr>
                        <a:t>Table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구매오더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헤더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테이블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( ZTC1MM0007 )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구매오더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아이템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테이블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( ZTC1MM0008 )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결재이력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테이블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( ZTC1MM0027 )</a:t>
                      </a:r>
                      <a:endParaRPr lang="en-US" sz="1200" b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구매요청 아이템 테이블 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latin typeface="+mj-ea"/>
                          <a:ea typeface="맑은 고딕"/>
                          <a:cs typeface="맑은 고딕"/>
                          <a:sym typeface="Arial"/>
                        </a:rPr>
                        <a:t>( ZTC1MM0026 )</a:t>
                      </a:r>
                      <a:endParaRPr sz="1200" b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벤더마스터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테이블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( ZTC1MM0012 )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사원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마스터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테이블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( ZTC1HR0001 )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8" name="Picture 107" descr="1782979472573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1264216"/>
            <a:ext cx="6748272" cy="3116756"/>
          </a:xfrm>
          <a:prstGeom prst="rect">
            <a:avLst/>
          </a:prstGeom>
        </p:spPr>
      </p:pic>
      <p:pic>
        <p:nvPicPr>
          <p:cNvPr id="110" name="Picture 109" descr="178297951039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256" y="5095054"/>
            <a:ext cx="2157984" cy="1423302"/>
          </a:xfrm>
          <a:prstGeom prst="rect">
            <a:avLst/>
          </a:prstGeom>
        </p:spPr>
      </p:pic>
      <p:pic>
        <p:nvPicPr>
          <p:cNvPr id="111" name="Picture 110" descr="1782979529229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563" y="5060652"/>
            <a:ext cx="2249424" cy="1492106"/>
          </a:xfrm>
          <a:prstGeom prst="rect">
            <a:avLst/>
          </a:prstGeom>
        </p:spPr>
      </p:pic>
      <p:pic>
        <p:nvPicPr>
          <p:cNvPr id="112" name="Picture 111" descr="1782979572905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8071" y="5053943"/>
            <a:ext cx="1463040" cy="948998"/>
          </a:xfrm>
          <a:prstGeom prst="rect">
            <a:avLst/>
          </a:prstGeom>
        </p:spPr>
      </p:pic>
      <p:pic>
        <p:nvPicPr>
          <p:cNvPr id="113" name="Picture 112" descr="1782979550567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2792" y="4025298"/>
            <a:ext cx="1600200" cy="682861"/>
          </a:xfrm>
          <a:prstGeom prst="rect">
            <a:avLst/>
          </a:prstGeom>
        </p:spPr>
      </p:pic>
      <p:pic>
        <p:nvPicPr>
          <p:cNvPr id="115" name="Picture 114" descr="1782979624786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8071" y="6032507"/>
            <a:ext cx="1289586" cy="54228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E34DF25-12A0-C8D8-2681-7C5A7A9F3ABA}"/>
              </a:ext>
            </a:extLst>
          </p:cNvPr>
          <p:cNvSpPr/>
          <p:nvPr/>
        </p:nvSpPr>
        <p:spPr>
          <a:xfrm>
            <a:off x="5877408" y="1526193"/>
            <a:ext cx="5369711" cy="57692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F72D58-F114-A592-B1EC-5AD92BF34790}"/>
              </a:ext>
            </a:extLst>
          </p:cNvPr>
          <p:cNvSpPr/>
          <p:nvPr/>
        </p:nvSpPr>
        <p:spPr>
          <a:xfrm>
            <a:off x="5892217" y="2411896"/>
            <a:ext cx="1980768" cy="22157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Google Shape;65;p14">
            <a:extLst>
              <a:ext uri="{FF2B5EF4-FFF2-40B4-BE49-F238E27FC236}">
                <a16:creationId xmlns:a16="http://schemas.microsoft.com/office/drawing/2014/main" id="{90B8A1C6-8FA4-7EC7-248D-0CCE05E79DCC}"/>
              </a:ext>
            </a:extLst>
          </p:cNvPr>
          <p:cNvSpPr/>
          <p:nvPr/>
        </p:nvSpPr>
        <p:spPr>
          <a:xfrm>
            <a:off x="5771691" y="1496306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6E05B8-5E1F-F25D-5B60-C45E8C9E8093}"/>
              </a:ext>
            </a:extLst>
          </p:cNvPr>
          <p:cNvSpPr/>
          <p:nvPr/>
        </p:nvSpPr>
        <p:spPr>
          <a:xfrm>
            <a:off x="5918420" y="3568564"/>
            <a:ext cx="230589" cy="81240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88571B-1160-E7EE-E06E-F0B9ED224D1E}"/>
              </a:ext>
            </a:extLst>
          </p:cNvPr>
          <p:cNvSpPr/>
          <p:nvPr/>
        </p:nvSpPr>
        <p:spPr>
          <a:xfrm>
            <a:off x="7214832" y="2234298"/>
            <a:ext cx="499089" cy="1477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Google Shape;65;p14">
            <a:extLst>
              <a:ext uri="{FF2B5EF4-FFF2-40B4-BE49-F238E27FC236}">
                <a16:creationId xmlns:a16="http://schemas.microsoft.com/office/drawing/2014/main" id="{DF4C5E04-9ABF-843E-269A-60C2DAA0BBE6}"/>
              </a:ext>
            </a:extLst>
          </p:cNvPr>
          <p:cNvSpPr/>
          <p:nvPr/>
        </p:nvSpPr>
        <p:spPr>
          <a:xfrm>
            <a:off x="10260338" y="4942654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6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4" name="Google Shape;65;p14">
            <a:extLst>
              <a:ext uri="{FF2B5EF4-FFF2-40B4-BE49-F238E27FC236}">
                <a16:creationId xmlns:a16="http://schemas.microsoft.com/office/drawing/2014/main" id="{95936021-29BC-55CF-2A13-A00345CB001C}"/>
              </a:ext>
            </a:extLst>
          </p:cNvPr>
          <p:cNvSpPr/>
          <p:nvPr/>
        </p:nvSpPr>
        <p:spPr>
          <a:xfrm>
            <a:off x="5391538" y="4942654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BB6C1D-0C7B-5918-E917-D80446B04F7A}"/>
              </a:ext>
            </a:extLst>
          </p:cNvPr>
          <p:cNvSpPr/>
          <p:nvPr/>
        </p:nvSpPr>
        <p:spPr>
          <a:xfrm>
            <a:off x="7951304" y="2556344"/>
            <a:ext cx="1331844" cy="1908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Google Shape;65;p14">
            <a:extLst>
              <a:ext uri="{FF2B5EF4-FFF2-40B4-BE49-F238E27FC236}">
                <a16:creationId xmlns:a16="http://schemas.microsoft.com/office/drawing/2014/main" id="{7810CB48-0954-CB0E-53A1-D85BC43C1A2A}"/>
              </a:ext>
            </a:extLst>
          </p:cNvPr>
          <p:cNvSpPr/>
          <p:nvPr/>
        </p:nvSpPr>
        <p:spPr>
          <a:xfrm>
            <a:off x="9208492" y="2425166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2" name="Google Shape;65;p14">
            <a:extLst>
              <a:ext uri="{FF2B5EF4-FFF2-40B4-BE49-F238E27FC236}">
                <a16:creationId xmlns:a16="http://schemas.microsoft.com/office/drawing/2014/main" id="{17AA69E2-34F5-8592-B7A7-8EB4654FA032}"/>
              </a:ext>
            </a:extLst>
          </p:cNvPr>
          <p:cNvSpPr/>
          <p:nvPr/>
        </p:nvSpPr>
        <p:spPr>
          <a:xfrm>
            <a:off x="7109114" y="2111501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8" name="Google Shape;65;p14">
            <a:extLst>
              <a:ext uri="{FF2B5EF4-FFF2-40B4-BE49-F238E27FC236}">
                <a16:creationId xmlns:a16="http://schemas.microsoft.com/office/drawing/2014/main" id="{2BC196B9-5D28-9B4E-7F60-0F4F2B93A037}"/>
              </a:ext>
            </a:extLst>
          </p:cNvPr>
          <p:cNvSpPr/>
          <p:nvPr/>
        </p:nvSpPr>
        <p:spPr>
          <a:xfrm>
            <a:off x="7825938" y="4942654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4043E9E-7478-89D9-8A5C-44BFCC83D2BF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013448" y="2382009"/>
            <a:ext cx="450929" cy="16432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849249245"/>
              </p:ext>
            </p:extLst>
          </p:nvPr>
        </p:nvGraphicFramePr>
        <p:xfrm>
          <a:off x="134006" y="102476"/>
          <a:ext cx="11879325" cy="6690410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[MM] QR 자재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추적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(Fiori)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트랜잭션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c1_mm_qr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UI5 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405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98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rgbClr val="1F3446"/>
                          </a:solidFill>
                          <a:latin typeface="맑은 고딕"/>
                        </a:rPr>
                        <a:t>Description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QR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발행 관리  </a:t>
                      </a:r>
                      <a:b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입고완료 배치 목록을 자재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/PO/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자재문서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배치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발행상태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전기일 조건으로 조회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. </a:t>
                      </a:r>
                      <a:r>
                        <a:rPr lang="ko-KR" altLang="en-US" sz="105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미발행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건만 체크박스 선택 가능하며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QR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발행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일괄발행 처리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발행완료 건은 행 더블클릭 상세에서 재발행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기존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QR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삭제 후 신규 </a:t>
                      </a:r>
                      <a:r>
                        <a:rPr lang="ko-KR" altLang="en-US" sz="105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채번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만 허용해 중복 발행을 차단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QR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라벨  </a:t>
                      </a:r>
                      <a:b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QR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에 앱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URL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을 인코딩해 발행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—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핸드폰 카메라로 스캔 시 </a:t>
                      </a:r>
                      <a:r>
                        <a:rPr lang="ko-KR" altLang="en-US" sz="105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사내망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접속만으로 해당 배치 조회 화면에 직행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.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발행 성공 시 라벨 인쇄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브라우저 인쇄→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PDF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저장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제안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QR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스캔 </a:t>
                      </a:r>
                      <a:b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카메라 스캔 또는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QR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번호 수동입력으로 배치 조회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.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자재 이미지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현재위치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재고상태와 </a:t>
                      </a:r>
                      <a:r>
                        <a:rPr lang="ko-KR" altLang="en-US" sz="105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입고→이동→출고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이동이력을 타임라인으로 표시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창고 현황  </a:t>
                      </a:r>
                      <a:b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자재 단위 재고 대시보드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— KPI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카드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05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총재고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가용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5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검사중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보류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),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창고별 재고 상태 테이블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창고별 재고분포 </a:t>
                      </a:r>
                      <a:r>
                        <a:rPr lang="ko-KR" altLang="en-US" sz="105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스택바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차트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(PO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입고예정은 품질검사창고 막대에 합산 표시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), 3D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등각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(Isometric)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창고 배치도에서 창고 클릭 시 배치 목록 확인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모바일 대응 </a:t>
                      </a:r>
                      <a:b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폰 접속 시 발행관리 탭을 숨기고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QR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스캔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창고 현황 전용 화면으로 재구성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.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발행이력 화면에서 발행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삭제 이력 별도 조회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ko-KR" sz="1400" b="1" dirty="0">
                          <a:solidFill>
                            <a:srgbClr val="1F3446"/>
                          </a:solidFill>
                          <a:latin typeface="맑은 고딕"/>
                        </a:rPr>
                        <a:t>Table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MATDOC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테이블 </a:t>
                      </a: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 ZTC1MM0005 )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공급업체 마스터 테이블 </a:t>
                      </a: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 ZTC1MM0012 )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자재마스터 테이블 </a:t>
                      </a: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 ZTC1MM0001 )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QR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발행 이력 관리 테이블 </a:t>
                      </a: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 ZTC1MM0028 )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Batch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별 재고 테이블 </a:t>
                      </a: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 ZTC1MM0020 )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구매오더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아이템 테이블 </a:t>
                      </a: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 ZTC1MM0008 )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구매정보레코드 아이템 테이블 </a:t>
                      </a: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 ZTC1MM0022 )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8" name="Picture 107" descr="1782980031084_image.png"/>
          <p:cNvPicPr>
            <a:picLocks noChangeAspect="1"/>
          </p:cNvPicPr>
          <p:nvPr/>
        </p:nvPicPr>
        <p:blipFill>
          <a:blip r:embed="rId2"/>
          <a:srcRect l="9820" r="9838"/>
          <a:stretch/>
        </p:blipFill>
        <p:spPr>
          <a:xfrm>
            <a:off x="5311799" y="1225974"/>
            <a:ext cx="3851279" cy="2203026"/>
          </a:xfrm>
          <a:prstGeom prst="rect">
            <a:avLst/>
          </a:prstGeom>
        </p:spPr>
      </p:pic>
      <p:pic>
        <p:nvPicPr>
          <p:cNvPr id="109" name="Picture 108" descr="178298008511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452" y="1624075"/>
            <a:ext cx="962451" cy="1688108"/>
          </a:xfrm>
          <a:prstGeom prst="rect">
            <a:avLst/>
          </a:prstGeom>
        </p:spPr>
      </p:pic>
      <p:pic>
        <p:nvPicPr>
          <p:cNvPr id="110" name="Picture 109" descr="1782980058696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151" y="1624075"/>
            <a:ext cx="1434230" cy="996982"/>
          </a:xfrm>
          <a:prstGeom prst="rect">
            <a:avLst/>
          </a:prstGeom>
        </p:spPr>
      </p:pic>
      <p:pic>
        <p:nvPicPr>
          <p:cNvPr id="112" name="Picture 111" descr="1782980074741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0665" y="1919891"/>
            <a:ext cx="1896131" cy="145870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3D0095B-5124-7090-C6C3-AA2E07E2F87E}"/>
              </a:ext>
            </a:extLst>
          </p:cNvPr>
          <p:cNvSpPr/>
          <p:nvPr/>
        </p:nvSpPr>
        <p:spPr>
          <a:xfrm>
            <a:off x="8190452" y="1624076"/>
            <a:ext cx="972626" cy="168810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E4CECA-AC68-88AF-3B7F-121C3474C706}"/>
              </a:ext>
            </a:extLst>
          </p:cNvPr>
          <p:cNvSpPr/>
          <p:nvPr/>
        </p:nvSpPr>
        <p:spPr>
          <a:xfrm>
            <a:off x="5310012" y="1624075"/>
            <a:ext cx="2830066" cy="167992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FBF487-25D4-59C3-27BB-1E26D13A0C25}"/>
              </a:ext>
            </a:extLst>
          </p:cNvPr>
          <p:cNvSpPr/>
          <p:nvPr/>
        </p:nvSpPr>
        <p:spPr>
          <a:xfrm>
            <a:off x="8685850" y="1837032"/>
            <a:ext cx="402343" cy="14312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B52993-828B-3733-5A69-3DCB8231D18F}"/>
              </a:ext>
            </a:extLst>
          </p:cNvPr>
          <p:cNvSpPr/>
          <p:nvPr/>
        </p:nvSpPr>
        <p:spPr>
          <a:xfrm>
            <a:off x="10320044" y="4109828"/>
            <a:ext cx="402343" cy="14312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Google Shape;65;p14">
            <a:extLst>
              <a:ext uri="{FF2B5EF4-FFF2-40B4-BE49-F238E27FC236}">
                <a16:creationId xmlns:a16="http://schemas.microsoft.com/office/drawing/2014/main" id="{99422DC7-0320-EC52-59D7-9A3DA349D7C1}"/>
              </a:ext>
            </a:extLst>
          </p:cNvPr>
          <p:cNvSpPr/>
          <p:nvPr/>
        </p:nvSpPr>
        <p:spPr>
          <a:xfrm>
            <a:off x="5194119" y="1493898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" name="Google Shape;65;p14">
            <a:extLst>
              <a:ext uri="{FF2B5EF4-FFF2-40B4-BE49-F238E27FC236}">
                <a16:creationId xmlns:a16="http://schemas.microsoft.com/office/drawing/2014/main" id="{3EE771C0-B328-D68B-709C-F863D77BEA1B}"/>
              </a:ext>
            </a:extLst>
          </p:cNvPr>
          <p:cNvSpPr/>
          <p:nvPr/>
        </p:nvSpPr>
        <p:spPr>
          <a:xfrm>
            <a:off x="9047185" y="1491147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31C0EB2-C5EE-834F-DC78-3BAED761B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4385" y="3559177"/>
            <a:ext cx="2608652" cy="14692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21C96A7-0768-32E4-9E8B-FD84FE57D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8061" y="3594700"/>
            <a:ext cx="3245208" cy="160131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38808E8-F60F-4F88-F9EB-9753205AF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061" y="5430915"/>
            <a:ext cx="1950109" cy="86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65;p14">
            <a:extLst>
              <a:ext uri="{FF2B5EF4-FFF2-40B4-BE49-F238E27FC236}">
                <a16:creationId xmlns:a16="http://schemas.microsoft.com/office/drawing/2014/main" id="{0F878267-ACBC-A47F-A62D-7BCDEBEA853F}"/>
              </a:ext>
            </a:extLst>
          </p:cNvPr>
          <p:cNvSpPr/>
          <p:nvPr/>
        </p:nvSpPr>
        <p:spPr>
          <a:xfrm>
            <a:off x="5224998" y="3415149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34233FD-A40A-4906-EAEE-3677223411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3901" y="4640279"/>
            <a:ext cx="413537" cy="525757"/>
          </a:xfrm>
          <a:prstGeom prst="rect">
            <a:avLst/>
          </a:prstGeom>
        </p:spPr>
      </p:pic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2CF62B64-6A18-38EF-1EC9-CC39C5D74EE3}"/>
              </a:ext>
            </a:extLst>
          </p:cNvPr>
          <p:cNvSpPr/>
          <p:nvPr/>
        </p:nvSpPr>
        <p:spPr>
          <a:xfrm>
            <a:off x="8342343" y="3429443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3d5b7520f51_0_0"/>
          <p:cNvGraphicFramePr/>
          <p:nvPr>
            <p:extLst>
              <p:ext uri="{D42A27DB-BD31-4B8C-83A1-F6EECF244321}">
                <p14:modId xmlns:p14="http://schemas.microsoft.com/office/powerpoint/2010/main" val="178878434"/>
              </p:ext>
            </p:extLst>
          </p:nvPr>
        </p:nvGraphicFramePr>
        <p:xfrm>
          <a:off x="134006" y="102476"/>
          <a:ext cx="11879325" cy="6625347"/>
        </p:xfrm>
        <a:graphic>
          <a:graphicData uri="http://schemas.openxmlformats.org/drawingml/2006/table">
            <a:tbl>
              <a:tblPr firstRow="1" bandRow="1">
                <a:noFill/>
                <a:tableStyleId>{E6969325-27A6-4929-8F4C-6E62E43A9AF5}</a:tableStyleId>
              </a:tblPr>
              <a:tblGrid>
                <a:gridCol w="16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제목</a:t>
                      </a:r>
                      <a:endParaRPr sz="11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[SD] </a:t>
                      </a:r>
                      <a:r>
                        <a:rPr lang="ko-KR" alt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판매오더</a:t>
                      </a: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변경이력 조회 프로그램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(Fiori)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 </a:t>
                      </a:r>
                      <a:r>
                        <a:rPr lang="en-US" altLang="ko-KR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i="0" u="none" strike="noStrike" cap="non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트랜잭션</a:t>
                      </a:r>
                      <a:endParaRPr lang="ko-KR" altLang="en-US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조회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이름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c1_sd_so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UI5 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4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홍승욱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Transaction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2026.06.27</a:t>
                      </a:r>
                      <a:endParaRPr sz="11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405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스토리 보드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레이아웃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98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sz="1400" b="1" dirty="0">
                          <a:solidFill>
                            <a:srgbClr val="1F3446"/>
                          </a:solidFill>
                          <a:latin typeface="맑은 고딕"/>
                        </a:rPr>
                        <a:t>Description</a:t>
                      </a:r>
                      <a:endParaRPr lang="en-US" altLang="ko-KR" sz="1400" b="1" dirty="0"/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 내역 조회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b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ko-KR" altLang="en-US" sz="10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판매오더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변경자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변경필드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주문수량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납기일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)/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변경일 조건으로 검색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상단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KPI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카드에 변경된 오더 수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총 변경 항목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최근 변경일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변경자 수 표시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마스터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디테일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b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좌측 오더 카드 목록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변경항목 수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변경자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수량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납기 필드별 미니 </a:t>
                      </a:r>
                      <a:r>
                        <a:rPr lang="ko-KR" altLang="en-US" sz="10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바차트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에서 오더 선택 시 우측에 오더 총액 변경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주문수량 변경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 횟수 요약과 변경 </a:t>
                      </a:r>
                      <a:r>
                        <a:rPr lang="ko-KR" altLang="en-US" sz="10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전→후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필드별 테이블 표시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—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증가는 파랑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감소는 빨강으로 증감 시각화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 상세 팝업 </a:t>
                      </a:r>
                      <a:b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수량 변경 건의 납기 영향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(ATP)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을 분석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—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현재고와 생산 입고예정을 날짜별 누적해 최단 출고가능일을 도출하고 재고 부족 수량 표시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문서흐름 조회로 후속 문서 추적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분석 탭 </a:t>
                      </a:r>
                      <a:b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 잦은 고객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TOP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랭킹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집중 관리 대상 식별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과 납기 위험 분포 도넛 차트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—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현재 재고 기준으로 즉시 출고 가능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생산 필요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충당 불가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단계 분류</a:t>
                      </a:r>
                    </a:p>
                    <a:p>
                      <a:pPr marL="228600" indent="-22860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변경 로그 활용 </a:t>
                      </a:r>
                      <a:b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금액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(NETWR)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은 수량 변경의 결과값이므로 직접 변경 항목에서 제외하고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헤더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아이템 테이블 구분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(ZTC1SD0001/0002)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에 따라 변경 필드를 매핑해 표시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400" b="1" dirty="0">
                          <a:solidFill>
                            <a:srgbClr val="1F3446"/>
                          </a:solidFill>
                          <a:latin typeface="맑은 고딕"/>
                        </a:rPr>
                        <a:t>Table</a:t>
                      </a:r>
                      <a:endParaRPr lang="en-US" sz="1400" b="1" dirty="0">
                        <a:solidFill>
                          <a:srgbClr val="1F3446"/>
                        </a:solidFill>
                        <a:latin typeface="맑은 고딕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dirty="0"/>
                        <a:t>Batch</a:t>
                      </a:r>
                      <a:r>
                        <a:rPr lang="ko-KR" altLang="en-US" sz="1200" dirty="0"/>
                        <a:t>별 재고 테이블 </a:t>
                      </a:r>
                      <a:r>
                        <a:rPr lang="en-US" altLang="ko-KR" sz="1200" dirty="0"/>
                        <a:t>( ZTC1MM0020 )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변경문서 헤더 테이블 </a:t>
                      </a:r>
                      <a:r>
                        <a:rPr lang="en-US" altLang="ko-KR" sz="1200" dirty="0"/>
                        <a:t>( ZTC1SD0008 )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변경문서 아이템 테이블 </a:t>
                      </a:r>
                      <a:r>
                        <a:rPr lang="en-US" altLang="ko-KR" sz="1200" dirty="0"/>
                        <a:t>( ZTC1SD0009 )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판매문서 헤더 테이블 </a:t>
                      </a:r>
                      <a:r>
                        <a:rPr lang="en-US" altLang="ko-KR" sz="1200" dirty="0"/>
                        <a:t>( ZTC1SD0001 )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판매문서 아이템 테이블 </a:t>
                      </a:r>
                      <a:r>
                        <a:rPr lang="en-US" altLang="ko-KR" sz="1200" dirty="0"/>
                        <a:t>( ZTC1SD0002 )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고객 </a:t>
                      </a:r>
                      <a:r>
                        <a:rPr lang="en-US" altLang="ko-KR" sz="1200" dirty="0"/>
                        <a:t>+ BP </a:t>
                      </a:r>
                      <a:r>
                        <a:rPr lang="ko-KR" altLang="en-US" sz="1200" dirty="0"/>
                        <a:t>테이블 </a:t>
                      </a:r>
                      <a:r>
                        <a:rPr lang="en-US" altLang="ko-KR" sz="1200" dirty="0"/>
                        <a:t>( ZTC1SD0024 )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dirty="0"/>
                        <a:t>BP </a:t>
                      </a:r>
                      <a:r>
                        <a:rPr lang="ko-KR" altLang="en-US" sz="1200" dirty="0"/>
                        <a:t>기본 테이블 </a:t>
                      </a:r>
                      <a:r>
                        <a:rPr lang="en-US" altLang="ko-KR" sz="1200" dirty="0"/>
                        <a:t>( ZTC1SD0014 )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사원마스터 테이블 </a:t>
                      </a:r>
                      <a:r>
                        <a:rPr lang="en-US" altLang="ko-KR" sz="1200" dirty="0"/>
                        <a:t>( ZTC1HR0001 )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 err="1"/>
                        <a:t>생산오더</a:t>
                      </a:r>
                      <a:r>
                        <a:rPr lang="ko-KR" altLang="en-US" sz="1200" dirty="0"/>
                        <a:t> 헤더 테이블 </a:t>
                      </a:r>
                      <a:r>
                        <a:rPr lang="en-US" altLang="ko-KR" sz="1200" dirty="0"/>
                        <a:t>( ZTC1PP0009 )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 err="1"/>
                        <a:t>생산오더</a:t>
                      </a:r>
                      <a:r>
                        <a:rPr lang="ko-KR" altLang="en-US" sz="1200" dirty="0"/>
                        <a:t> 상세항목 테이블 </a:t>
                      </a:r>
                      <a:r>
                        <a:rPr lang="en-US" altLang="ko-KR" sz="1200" dirty="0"/>
                        <a:t>( ZTC1PP0010 )</a:t>
                      </a:r>
                      <a:endParaRPr sz="1200" b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7C3686C3-DC9A-B278-5EE4-FEEC348C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792" y="1344795"/>
            <a:ext cx="4958606" cy="27720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E261ABE-1EF6-15A2-3ABC-325FDBD46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555" y="4338084"/>
            <a:ext cx="3887274" cy="219040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F8CD49-8612-CD77-B62C-0D8A1FB53669}"/>
              </a:ext>
            </a:extLst>
          </p:cNvPr>
          <p:cNvSpPr/>
          <p:nvPr/>
        </p:nvSpPr>
        <p:spPr>
          <a:xfrm>
            <a:off x="5405555" y="2583336"/>
            <a:ext cx="1261059" cy="153349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Google Shape;65;p14">
            <a:extLst>
              <a:ext uri="{FF2B5EF4-FFF2-40B4-BE49-F238E27FC236}">
                <a16:creationId xmlns:a16="http://schemas.microsoft.com/office/drawing/2014/main" id="{4E3713D8-EE5B-BC97-7C28-75F19CDCB3DF}"/>
              </a:ext>
            </a:extLst>
          </p:cNvPr>
          <p:cNvSpPr/>
          <p:nvPr/>
        </p:nvSpPr>
        <p:spPr>
          <a:xfrm>
            <a:off x="5299837" y="2430937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1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8091376-DCFC-94EA-B045-02AA27513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547" y="2951445"/>
            <a:ext cx="2352580" cy="1386639"/>
          </a:xfrm>
          <a:prstGeom prst="rect">
            <a:avLst/>
          </a:prstGeom>
        </p:spPr>
      </p:pic>
      <p:sp>
        <p:nvSpPr>
          <p:cNvPr id="20" name="Google Shape;65;p14">
            <a:extLst>
              <a:ext uri="{FF2B5EF4-FFF2-40B4-BE49-F238E27FC236}">
                <a16:creationId xmlns:a16="http://schemas.microsoft.com/office/drawing/2014/main" id="{390A48B0-AB6E-B63F-26F2-62AEA40046D3}"/>
              </a:ext>
            </a:extLst>
          </p:cNvPr>
          <p:cNvSpPr/>
          <p:nvPr/>
        </p:nvSpPr>
        <p:spPr>
          <a:xfrm>
            <a:off x="11645409" y="2843591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05F034-EADA-1FC4-A8ED-70B040435539}"/>
              </a:ext>
            </a:extLst>
          </p:cNvPr>
          <p:cNvSpPr/>
          <p:nvPr/>
        </p:nvSpPr>
        <p:spPr>
          <a:xfrm>
            <a:off x="6738203" y="2583335"/>
            <a:ext cx="3256402" cy="153349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Google Shape;65;p14">
            <a:extLst>
              <a:ext uri="{FF2B5EF4-FFF2-40B4-BE49-F238E27FC236}">
                <a16:creationId xmlns:a16="http://schemas.microsoft.com/office/drawing/2014/main" id="{E33AFCBC-1126-F5C7-47BC-157E66CA59F9}"/>
              </a:ext>
            </a:extLst>
          </p:cNvPr>
          <p:cNvSpPr/>
          <p:nvPr/>
        </p:nvSpPr>
        <p:spPr>
          <a:xfrm>
            <a:off x="6663839" y="2430937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2" name="Google Shape;65;p14">
            <a:extLst>
              <a:ext uri="{FF2B5EF4-FFF2-40B4-BE49-F238E27FC236}">
                <a16:creationId xmlns:a16="http://schemas.microsoft.com/office/drawing/2014/main" id="{7885CB6D-85AD-E79E-7CBD-84E7804D9A94}"/>
              </a:ext>
            </a:extLst>
          </p:cNvPr>
          <p:cNvSpPr/>
          <p:nvPr/>
        </p:nvSpPr>
        <p:spPr>
          <a:xfrm>
            <a:off x="5299837" y="4268972"/>
            <a:ext cx="211436" cy="2157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43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16E30C627FB4438E2824E6E8040B1C" ma:contentTypeVersion="19" ma:contentTypeDescription="Create a new document." ma:contentTypeScope="" ma:versionID="a47c41f926e88ee6b6715502f829930b">
  <xsd:schema xmlns:xsd="http://www.w3.org/2001/XMLSchema" xmlns:xs="http://www.w3.org/2001/XMLSchema" xmlns:p="http://schemas.microsoft.com/office/2006/metadata/properties" xmlns:ns2="5245c0c3-e651-4f40-95fc-8c225509c39a" xmlns:ns3="98c90dfb-8f85-4c51-93cd-61f1bb57280e" targetNamespace="http://schemas.microsoft.com/office/2006/metadata/properties" ma:root="true" ma:fieldsID="3d5d0ea6eafb07ad16d9a7004dc24529" ns2:_="" ns3:_="">
    <xsd:import namespace="5245c0c3-e651-4f40-95fc-8c225509c39a"/>
    <xsd:import namespace="98c90dfb-8f85-4c51-93cd-61f1bb5728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5c0c3-e651-4f40-95fc-8c225509c3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c90dfb-8f85-4c51-93cd-61f1bb57280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8586681-f30c-4262-b6c5-53218be9f0bd}" ma:internalName="TaxCatchAll" ma:showField="CatchAllData" ma:web="98c90dfb-8f85-4c51-93cd-61f1bb5728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c90dfb-8f85-4c51-93cd-61f1bb57280e" xsi:nil="true"/>
    <lcf76f155ced4ddcb4097134ff3c332f xmlns="5245c0c3-e651-4f40-95fc-8c225509c39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DAD1A1-44D8-4CDF-AC79-5E1893724FEE}">
  <ds:schemaRefs>
    <ds:schemaRef ds:uri="5245c0c3-e651-4f40-95fc-8c225509c39a"/>
    <ds:schemaRef ds:uri="98c90dfb-8f85-4c51-93cd-61f1bb5728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D1C29DF-FA49-4394-8401-A0142BF61419}">
  <ds:schemaRefs>
    <ds:schemaRef ds:uri="5245c0c3-e651-4f40-95fc-8c225509c39a"/>
    <ds:schemaRef ds:uri="98c90dfb-8f85-4c51-93cd-61f1bb57280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1BF4A8A-E743-47B4-BEF3-EF93DCE5E35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2094</TotalTime>
  <Words>2979</Words>
  <Application>Microsoft Office PowerPoint</Application>
  <PresentationFormat>와이드스크린</PresentationFormat>
  <Paragraphs>414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D2Coding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현수 김</dc:creator>
  <cp:lastModifiedBy>USER</cp:lastModifiedBy>
  <cp:revision>46</cp:revision>
  <dcterms:created xsi:type="dcterms:W3CDTF">2026-02-18T07:22:16Z</dcterms:created>
  <dcterms:modified xsi:type="dcterms:W3CDTF">2026-07-03T06:10:51Z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0x0101000416E30C627FB4438E2824E6E8040B1C</vt:lpwstr>
  </property>
  <property fmtid="{D5CDD505-2E9C-101B-9397-08002B2CF9AE}" pid="3" name="MediaServiceImageTags">
    <vt:lpwstr/>
  </property>
</Properties>
</file>